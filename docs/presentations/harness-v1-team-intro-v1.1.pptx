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특정 도구 사용법만 소개하지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처음부터 팀 표준을 만들려고 시작한 것은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개발이 잘 되면 workflow가 실용적이라는 증거고, 워크플로우가 버벅이면 어디가 문제인지 실제 마찰로 발견할 수 있었다.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Code는 정말 빠르다. 하지만 '빠르게 잘못된 방향으로 가는' 것도 Claude Code다.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관점은 Vibe Coding 이후에 순차적으로 지나가는 단계가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예시는 초보자가 가장 쉽게 이해할 수 있는 다리다.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gstack, Superpowers, GSD, ECC는 v2에서 비교하고 흡수할 benchmark다.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v1을 과장하지 않는다. 강제력 있는 자동화는 아직 부족하다.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원칙은 v1의 성격을 가장 간결하게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핵심은 빠르게 실행하는 것이 아니라, 실행 전에 계획과 검증 기준을 합의하는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v1은 충분히 쓸 수 있지만, Agent가 규칙을 어겨도 기술적으로 막지는 못한다.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루틴은 팀 전파 이전에 내 개인 작업을 안정화하기 위한 것이었다.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흐름을 답답하게 느끼는 순간이 있지만, 이 작은 마찰이 scope drift와 silent failure를 막는다.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3C5FD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Pretendard"/>
              </a:rPr>
              <a:t>Internal Engineering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5943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retendard"/>
              </a:rPr>
              <a:t>AI와 함께
개발하기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CD4FF"/>
                </a:solidFill>
                <a:latin typeface="Pretendard"/>
              </a:rPr>
              <a:t>Vibe Coding &amp; AI Workflow Harness 실전 입문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383280"/>
            <a:ext cx="3840480" cy="274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11296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9CA3AF"/>
                </a:solidFill>
                <a:latin typeface="Pretendard"/>
              </a:rPr>
              <a:t>Document v1.1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9CA3AF"/>
                </a:solidFill>
                <a:latin typeface="Pretendard"/>
              </a:rPr>
              <a:t>박경서  ·  Kyungseo.Park@gmail.com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9CA3AF"/>
                </a:solidFill>
                <a:latin typeface="Pretendard"/>
              </a:rPr>
              <a:t>2026-05-16  ·  30 min  ·  29 slides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749808"/>
            <a:ext cx="4663440" cy="86868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822960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DM Sans"/>
              </a:rPr>
              <a:t>Vibe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2527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CD4FF"/>
                </a:solidFill>
                <a:latin typeface="Pretendard"/>
              </a:rPr>
              <a:t>자연어로 빠르게 만들고, 실행하며, 조정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82328" y="1618488"/>
            <a:ext cx="54864" cy="2560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1874520"/>
            <a:ext cx="4206240" cy="457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0248" y="1874520"/>
            <a:ext cx="54864" cy="2560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43216" y="2130552"/>
            <a:ext cx="1328928" cy="1508760"/>
          </a:xfrm>
          <a:prstGeom prst="rect">
            <a:avLst/>
          </a:prstGeom>
          <a:solidFill>
            <a:srgbClr val="141C30"/>
          </a:solidFill>
          <a:ln w="1905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43216" y="2130552"/>
            <a:ext cx="1328928" cy="6400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34656" y="2240280"/>
            <a:ext cx="117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Pretendard"/>
              </a:rPr>
              <a:t>Prompt
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4656" y="2852928"/>
            <a:ext cx="117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Pretendard"/>
              </a:rPr>
              <a:t>요청 품질 설계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82328" y="1874520"/>
            <a:ext cx="54864" cy="2560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45296" y="2130552"/>
            <a:ext cx="1328928" cy="1508760"/>
          </a:xfrm>
          <a:prstGeom prst="rect">
            <a:avLst/>
          </a:prstGeom>
          <a:solidFill>
            <a:srgbClr val="141C3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45296" y="2130552"/>
            <a:ext cx="132892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6736" y="2240280"/>
            <a:ext cx="117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Pretendard"/>
              </a:rPr>
              <a:t>Context
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6736" y="2852928"/>
            <a:ext cx="117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Pretendard"/>
              </a:rPr>
              <a:t>맥락·기준점 설계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84408" y="1874520"/>
            <a:ext cx="54864" cy="2560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47376" y="2130552"/>
            <a:ext cx="1328928" cy="1508760"/>
          </a:xfrm>
          <a:prstGeom prst="rect">
            <a:avLst/>
          </a:prstGeom>
          <a:solidFill>
            <a:srgbClr val="141C30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47376" y="2130552"/>
            <a:ext cx="132892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8816" y="2240280"/>
            <a:ext cx="117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Pretendard"/>
              </a:rPr>
              <a:t>Harness
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8816" y="2852928"/>
            <a:ext cx="117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Pretendard"/>
              </a:rPr>
              <a:t>승인·검증·복구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9204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Pretendard"/>
              </a:rPr>
              <a:t>개인 시행착오  →  반복 가능한 Harness v1  →  팀 공유 baseline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8919" y="5257800"/>
            <a:ext cx="9144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59271" y="5257800"/>
            <a:ext cx="914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9623" y="5257800"/>
            <a:ext cx="9144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오늘의 목표는 내가 AI와 함께 일하는 방식을 어떻게 구조화했는지 공유하는 것이다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36192"/>
            <a:ext cx="2063435" cy="3931920"/>
          </a:xfrm>
          <a:prstGeom prst="rect">
            <a:avLst/>
          </a:prstGeom>
          <a:solidFill>
            <a:srgbClr val="F96167"/>
          </a:solidFill>
          <a:ln w="1905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82496"/>
            <a:ext cx="20634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DM Sa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212848"/>
            <a:ext cx="18805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Project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953512"/>
            <a:ext cx="18805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retendard"/>
              </a:rPr>
              <a:t>왜 개인 프로젝트로
시작했는가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4391" y="1536192"/>
            <a:ext cx="2063435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54391" y="1536192"/>
            <a:ext cx="2063435" cy="6400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2407" y="1682496"/>
            <a:ext cx="20634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663EB"/>
                </a:solidFill>
                <a:latin typeface="DM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2407" y="2212848"/>
            <a:ext cx="18805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63EB"/>
                </a:solidFill>
                <a:latin typeface="Pretendard"/>
              </a:rPr>
              <a:t>AI Collaboration Basics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2407" y="2953512"/>
            <a:ext cx="18805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내 Vibe Coding 접근을
어떻게 이해할 것인가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68702" y="1536192"/>
            <a:ext cx="2063435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68702" y="1536192"/>
            <a:ext cx="2063435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6718" y="1682496"/>
            <a:ext cx="20634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DM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212848"/>
            <a:ext cx="18805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Pretendard"/>
              </a:rPr>
              <a:t>Harness v1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6718" y="2953512"/>
            <a:ext cx="18805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Lightweight Manual-First
Harness v1은 무엇인가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83013" y="1536192"/>
            <a:ext cx="2063435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83013" y="1536192"/>
            <a:ext cx="2063435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1029" y="1682496"/>
            <a:ext cx="20634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C3AED"/>
                </a:solidFill>
                <a:latin typeface="DM San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1029" y="2212848"/>
            <a:ext cx="18805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Pretendard"/>
              </a:rPr>
              <a:t>Usage Manual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1029" y="2953512"/>
            <a:ext cx="18805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개인 baseline을
어떻게 팀에 공유할 것인가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97324" y="1536192"/>
            <a:ext cx="2063435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97324" y="1536192"/>
            <a:ext cx="2063435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25340" y="1682496"/>
            <a:ext cx="20634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DM San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5340" y="2212848"/>
            <a:ext cx="18805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Pretendard"/>
              </a:rPr>
              <a:t>Next Step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5340" y="2953512"/>
            <a:ext cx="18805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v2와 Public 전환까지
무엇이 남았는가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Personal narrative + practical engineering  ·  30분 발표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058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141C30"/>
                </a:solidFill>
                <a:latin typeface="DM Sans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64008" cy="2743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Pretendard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29968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Pretendard"/>
              </a:rPr>
              <a:t>Project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906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96167"/>
                </a:solidFill>
                <a:latin typeface="Pretendard"/>
              </a:rPr>
              <a:t>개인적 Vibe Coding 실험에서 팀 공유 가능한 baseline까지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01 · Project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시작점은 팀 표준이 아니라 나의 개인적 Vibe Coding 실험이었다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36192"/>
            <a:ext cx="41148" cy="44805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2450592"/>
            <a:ext cx="10591495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5184" y="2340864"/>
            <a:ext cx="237744" cy="2377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56232"/>
            <a:ext cx="264787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6167"/>
                </a:solidFill>
                <a:latin typeface="Pretendard"/>
              </a:rP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33472"/>
            <a:ext cx="264787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F"/>
                </a:solidFill>
                <a:latin typeface="Pretendard"/>
              </a:rPr>
              <a:t>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54680"/>
            <a:ext cx="264787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Pretendard"/>
              </a:rPr>
              <a:t>자동완성 중심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13058" y="2340864"/>
            <a:ext cx="237744" cy="2377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7993" y="1856232"/>
            <a:ext cx="264787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6167"/>
                </a:solidFill>
                <a:latin typeface="Pretendard"/>
              </a:rPr>
              <a:t>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7993" y="2633472"/>
            <a:ext cx="264787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F"/>
                </a:solidFill>
                <a:latin typeface="Pretendard"/>
              </a:rPr>
              <a:t>ChatGPT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993" y="3154680"/>
            <a:ext cx="264787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Pretendard"/>
              </a:rPr>
              <a:t>Prompt 기반
코드 생성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60932" y="2340864"/>
            <a:ext cx="237744" cy="2377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5867" y="1856232"/>
            <a:ext cx="264787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6167"/>
                </a:solidFill>
                <a:latin typeface="Pretendard"/>
              </a:rPr>
              <a:t>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867" y="2633472"/>
            <a:ext cx="264787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F"/>
                </a:solidFill>
                <a:latin typeface="Pretendard"/>
              </a:rPr>
              <a:t>Cursor /
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5867" y="3154680"/>
            <a:ext cx="264787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Pretendard"/>
              </a:rPr>
              <a:t>Agentic Coding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08806" y="2340864"/>
            <a:ext cx="237744" cy="23774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03741" y="1856232"/>
            <a:ext cx="264787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6167"/>
                </a:solidFill>
                <a:latin typeface="Pretendard"/>
              </a:rPr>
              <a:t>2025+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3741" y="2633472"/>
            <a:ext cx="264787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0F"/>
                </a:solidFill>
                <a:latin typeface="Pretendard"/>
              </a:rPr>
              <a:t>Workflow
Harness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3741" y="3154680"/>
            <a:ext cx="264787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Pretendard"/>
              </a:rPr>
              <a:t>상태·승인·검증·복구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502152"/>
            <a:ext cx="105457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0A0A0F"/>
                </a:solidFill>
                <a:latin typeface="Pretendard"/>
              </a:rPr>
              <a:t>• 출발은 개인적으로 AI와 더 빠르게 개발해보고 싶은 욕구였다.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0A0A0F"/>
                </a:solidFill>
                <a:latin typeface="Pretendard"/>
              </a:rPr>
              <a:t>• Vibe Coding은 빠른 탐색에는 강했지만, 세션이 길어질수록 맥락과 완료 기준이 흔들렸다.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0A0A0F"/>
                </a:solidFill>
                <a:latin typeface="Pretendard"/>
              </a:rPr>
              <a:t>• 이 개인적 시행착오를 정리하다 보니 팀에도 공유 가능한 workflow baseline이 필요하다는 문제의식으로 확장됐다.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개인 실험에서 시작했지만, 반복 가능한 방식으로 만들려면 상태와 기준이 필요했다.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01 · Project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나는 실전 프로젝트 위에서 개인 workflow를 동시에 검증하는 구조를 선택했다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36192"/>
            <a:ext cx="10911535" cy="38404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81912"/>
            <a:ext cx="105457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base-msa-template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39112"/>
            <a:ext cx="5318607" cy="3520440"/>
          </a:xfrm>
          <a:prstGeom prst="rect">
            <a:avLst/>
          </a:prstGeom>
          <a:solidFill>
            <a:srgbClr val="FFEEEE"/>
          </a:solidFill>
          <a:ln w="1905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39112"/>
            <a:ext cx="64008" cy="3520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04428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6167"/>
                </a:solidFill>
                <a:latin typeface="Pretendard"/>
              </a:rPr>
              <a:t>PRODUCT AXIS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50442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0A0F"/>
                </a:solidFill>
                <a:latin typeface="Pretendard"/>
              </a:rPr>
              <a:t>Spring Boot MSA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53512"/>
            <a:ext cx="504428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Gradle multi-module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JWT Auth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API Gateway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Testcontainers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K8s (Phase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039112"/>
            <a:ext cx="5318607" cy="3520440"/>
          </a:xfrm>
          <a:prstGeom prst="rect">
            <a:avLst/>
          </a:prstGeom>
          <a:solidFill>
            <a:srgbClr val="EBF2FF"/>
          </a:solidFill>
          <a:ln w="1905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2039112"/>
            <a:ext cx="64008" cy="352044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2148840"/>
            <a:ext cx="504428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663EB"/>
                </a:solidFill>
                <a:latin typeface="Pretendard"/>
              </a:rPr>
              <a:t>HARNESS AXIS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468880"/>
            <a:ext cx="50442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0A0F"/>
                </a:solidFill>
                <a:latin typeface="Pretendard"/>
              </a:rPr>
              <a:t>AI Workflow Harness 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2953512"/>
            <a:ext cx="504428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STATUS.md (상태 추적)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Commands (workflow 실행)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State Machine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3-Tool 정렬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Scaffolding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7247" y="37307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Pretendard"/>
              </a:rPr>
              <a:t>◄──►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단순 실험이 아닌 실전 타겟 위에서 Harness를 검증하면, 이론이 아니라 실제 마찰로 문제를 발견한다.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01 · Project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이 repo는 Product 코드와 Harness 문서가 하나의 저장소에 공존한다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81912"/>
          <a:ext cx="1091153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Product Runtime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Harness Docs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Tool Surfaces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Scaffolding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services/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docs/STATUS.md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CLAUDE.md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create-harness.sh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gateway/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docs/AGENT-WORKFLOW.md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AGENTS.md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--profile generic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common/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docs/HARNESS-PROTOCOL.md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.claude/commands/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--profile spring-boot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/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docs/backlog/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.cursor/rules/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--existing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docs/decisions/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669280"/>
            <a:ext cx="54864" cy="5303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5669280"/>
            <a:ext cx="10856671" cy="530352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751576"/>
            <a:ext cx="105000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63EB"/>
                </a:solidFill>
                <a:latin typeface="Pretendard"/>
              </a:rPr>
              <a:t>Product와 Harness는 다른 폴더에 있지만, 같은 세션에서 함께 발전한다.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Source: docs/ARCHITECTURE.md, create-harness.sh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01 · Project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이 프로젝트는 12일 동안 제품과 Harness를 병렬로 발전시켰다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14600"/>
            <a:ext cx="10911535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09747" y="2414016"/>
            <a:ext cx="219456" cy="21945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55879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6167"/>
                </a:solidFill>
                <a:latin typeface="Pretendard"/>
              </a:rPr>
              <a:t>May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70048"/>
            <a:ext cx="1558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F"/>
                </a:solidFill>
                <a:latin typeface="Pretendard"/>
              </a:rPr>
              <a:t>Phase 1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45536"/>
            <a:ext cx="155879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Pretendard"/>
              </a:rPr>
              <a:t>MSA Block 3~5
기능 구현 시작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68538" y="2414016"/>
            <a:ext cx="219456" cy="21945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8870" y="1920240"/>
            <a:ext cx="155879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6167"/>
                </a:solidFill>
                <a:latin typeface="Pretendard"/>
              </a:rPr>
              <a:t>May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8870" y="2670048"/>
            <a:ext cx="1558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F"/>
                </a:solidFill>
                <a:latin typeface="Pretendard"/>
              </a:rPr>
              <a:t>Context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8870" y="3145536"/>
            <a:ext cx="155879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Pretendard"/>
              </a:rPr>
              <a:t>CLAUDE.md/AGENTS.md
AGENT-WORKFLOW.md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7328" y="2414016"/>
            <a:ext cx="219456" cy="21945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7661" y="1920240"/>
            <a:ext cx="155879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6167"/>
                </a:solidFill>
                <a:latin typeface="Pretendard"/>
              </a:rPr>
              <a:t>May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7661" y="2670048"/>
            <a:ext cx="1558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F"/>
                </a:solidFill>
                <a:latin typeface="Pretendard"/>
              </a:rPr>
              <a:t>STATUS/Backlog/DR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7661" y="3145536"/>
            <a:ext cx="155879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Pretendard"/>
              </a:rPr>
              <a:t>Live Board
Backlog+DR 도입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6119" y="2414016"/>
            <a:ext cx="219456" cy="21945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6452" y="1920240"/>
            <a:ext cx="155879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6167"/>
                </a:solidFill>
                <a:latin typeface="Pretendard"/>
              </a:rPr>
              <a:t>May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6452" y="2670048"/>
            <a:ext cx="1558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F"/>
                </a:solidFill>
                <a:latin typeface="Pretendard"/>
              </a:rPr>
              <a:t>Command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6452" y="3145536"/>
            <a:ext cx="155879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Pretendard"/>
              </a:rPr>
              <a:t>/start /work /done
Approval gate 도입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4910" y="2414016"/>
            <a:ext cx="219456" cy="21945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5242" y="1920240"/>
            <a:ext cx="155879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6167"/>
                </a:solidFill>
                <a:latin typeface="Pretendard"/>
              </a:rPr>
              <a:t>May 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5242" y="2670048"/>
            <a:ext cx="1558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F"/>
                </a:solidFill>
                <a:latin typeface="Pretendard"/>
              </a:rPr>
              <a:t>Manual-First 확정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5242" y="3145536"/>
            <a:ext cx="155879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Pretendard"/>
              </a:rPr>
              <a:t>HRF 리팩토링
HRN 하드닝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03700" y="2414016"/>
            <a:ext cx="219456" cy="21945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4033" y="1920240"/>
            <a:ext cx="155879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6167"/>
                </a:solidFill>
                <a:latin typeface="Pretendard"/>
              </a:rPr>
              <a:t>May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4033" y="2670048"/>
            <a:ext cx="1558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F"/>
                </a:solidFill>
                <a:latin typeface="Pretendard"/>
              </a:rPr>
              <a:t>Scaffolding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4033" y="3145536"/>
            <a:ext cx="155879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Pretendard"/>
              </a:rPr>
              <a:t>create-harness.sh
WORKFLOW-MANUAL.md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2491" y="2414016"/>
            <a:ext cx="219456" cy="21945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92824" y="1920240"/>
            <a:ext cx="155879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6167"/>
                </a:solidFill>
                <a:latin typeface="Pretendard"/>
              </a:rPr>
              <a:t>May 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2824" y="2670048"/>
            <a:ext cx="15587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F"/>
                </a:solidFill>
                <a:latin typeface="Pretendard"/>
              </a:rPr>
              <a:t>v1 완성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2824" y="3145536"/>
            <a:ext cx="155879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Pretendard"/>
              </a:rPr>
              <a:t>blueprint+PPTX
발표 산출물 생성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669280"/>
            <a:ext cx="54864" cy="5303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4944" y="5669280"/>
            <a:ext cx="10856671" cy="530352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751576"/>
            <a:ext cx="105000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6167"/>
                </a:solidFill>
                <a:latin typeface="Pretendard"/>
              </a:rPr>
              <a:t>May 05 → May 16: 12일간 Product Phase 1 + Harness v1 동시 완성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Source: git log --oneline, docs/STATUS.md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01 · Project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Phase 1과 Harness v1이 완료됐고, Phase 2와 v2가 남아 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36192"/>
          <a:ext cx="1091153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10363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/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Now  ✅  완료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Next  📋  계획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10363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Product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Phase 1 — Gradle multi-module, JWT Auth,
API Gateway, Testcontainers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Phase 2 — K8s, Security Hardening,
Prometheus, DB per Service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10363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Harness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v1 — Manual-First Protocol, 3-Tool,
STATUS.md, Scaffolding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v2 — Hook 기반 auto-block, CI Gate,
SSOT config, drift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321808"/>
            <a:ext cx="10911535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367528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Pretendard"/>
              </a:rPr>
              <a:t>Repo: github.com/kyungseo/base-msa-template  —  Private. 검증 후 Public 전환 예정.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Source: docs/STATUS.md § Current State, docs/backlog/PHASE2.md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058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141C30"/>
                </a:solidFill>
                <a:latin typeface="DM Sans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64008" cy="274320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Pretendard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29968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Pretendard"/>
              </a:rPr>
              <a:t>AI Collaboration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906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63EB"/>
                </a:solidFill>
                <a:latin typeface="Pretendard"/>
              </a:rPr>
              <a:t>내 Vibe Coding 접근을 어떻게 이해할 것인가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02 · AI Collaboration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AI 코딩 도구는 3단계로 발전했고, 이 프로젝트는 3번째 단계를 다룬다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10911535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122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63EB"/>
                </a:solidFill>
                <a:latin typeface="DM Sans"/>
              </a:rPr>
              <a:t>L1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883664"/>
            <a:ext cx="36576" cy="905256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74650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A0F"/>
                </a:solidFill>
                <a:latin typeface="Pretendard"/>
              </a:rPr>
              <a:t>Chat UI / Code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7627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ChatGPT, Claude.ai, GitHub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1122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A0A0F"/>
                </a:solidFill>
                <a:latin typeface="Pretendard"/>
              </a:rPr>
              <a:t>요청→응답 단방향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9544"/>
            <a:ext cx="10911535" cy="1417320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6941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63EB"/>
                </a:solidFill>
                <a:latin typeface="DM Sans"/>
              </a:rPr>
              <a:t>L2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3465576"/>
            <a:ext cx="36576" cy="905256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332841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63EB"/>
                </a:solidFill>
                <a:latin typeface="Pretendard"/>
              </a:rPr>
              <a:t>IDE Agent / Agentic 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758184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Cursor, Claude Code (기본), 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6941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663EB"/>
                </a:solidFill>
                <a:latin typeface="Pretendard"/>
              </a:rPr>
              <a:t>파일 탐색·수정 자율 수행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91456"/>
            <a:ext cx="10911535" cy="141732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76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DM Sans"/>
              </a:rPr>
              <a:t>L3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5047488"/>
            <a:ext cx="36576" cy="9052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491032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</a:rPr>
              <a:t>Workflow Harness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34009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CD4FF"/>
                </a:solidFill>
                <a:latin typeface="Pretendard"/>
              </a:rPr>
              <a:t>Claude Code+Harness, Codex+workflow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52760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retendard"/>
              </a:rPr>
              <a:t>상태·승인·검증·복구 포함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669280"/>
            <a:ext cx="54864" cy="5303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" y="5669280"/>
            <a:ext cx="10856671" cy="530352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751576"/>
            <a:ext cx="105000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63EB"/>
                </a:solidFill>
                <a:latin typeface="Pretendard"/>
              </a:rPr>
              <a:t>오늘 주제는 Level 3. Level 2와 어떻게 다른지가 핵심이다.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Source: docs/retrospectives/harness-evaluation-20260514.md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02 · AI Collaboration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Claude Code는 강력하지만, 팀이 제공해야 하는 것이 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27632"/>
          <a:ext cx="1091153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Agent Can</a:t>
                      </a:r>
                    </a:p>
                  </a:txBody>
                  <a:tcPr>
                    <a:solidFill>
                      <a:srgbClr val="26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Team Must Provide</a:t>
                      </a:r>
                    </a:p>
                  </a:txBody>
                  <a:tcPr>
                    <a:solidFill>
                      <a:srgbClr val="2663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파일 탐색 · 편집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현재 상태 기준점 (STATUS.md)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코드 생성 · 수정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작업 범위와 우선순위 (Backlog)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빠른 반복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결정 근거와 이력 (DR)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문서 초안 작성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승인 조건과 검증 기준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명령 자동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FAIL/RECOVER 경로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669280"/>
            <a:ext cx="54864" cy="5303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5669280"/>
            <a:ext cx="10856671" cy="530352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751576"/>
            <a:ext cx="105000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63EB"/>
                </a:solidFill>
                <a:latin typeface="Pretendard"/>
              </a:rPr>
              <a:t>Agent의 자유도가 높을수록, 팀이 제공하는 기준점의 품질이 결과를 결정한다.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Source: docs/AGENT-WORKFLOW.md, docs/HARNESS-PROTOCOL.md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02 · AI Collaboration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Vibe Coding은 AI와 함께 빠르게 만들고 조정하는 작업 방식이다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36192"/>
            <a:ext cx="54864" cy="56692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536192"/>
            <a:ext cx="10856671" cy="566928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105457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63EB"/>
                </a:solidFill>
                <a:latin typeface="Pretendard"/>
              </a:rPr>
              <a:t>Vibe Coding: 자연어 대화로 AI에게 의도를 전달하고, 생성된 코드를 빠르게 실행·피드백·조정하는 작업 방식.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249424"/>
          <a:ext cx="1091153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Without Workflow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With Workflow</a:t>
                      </a:r>
                    </a:p>
                  </a:txBody>
                  <a:tcPr>
                    <a:solidFill>
                      <a:srgbClr val="37415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세션마다 맥락 초기화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STATUS.md로 세션 간 상태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결정 이유 휘발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DR에 결정 근거 + 되돌리기 비용 기록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AI가 임의로 scope 확장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Plan → Approve 게이트로 scope 통제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완료 기준 불명확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Done Criteria + Validation 필수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재개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Checkpoint 생성, RECOVER 경로 명시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Source: docs/retrospectives/harness-evaluation-20260514.md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02 · AI Collaboration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Vibe Coding을 안정화하는 세 가지 관점이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444087" y="1627632"/>
            <a:ext cx="5303520" cy="74980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44087" y="1700784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DM Sans"/>
              </a:rPr>
              <a:t>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4087" y="20848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CD4FF"/>
                </a:solidFill>
                <a:latin typeface="Pretendard"/>
              </a:rPr>
              <a:t>자연어로 빠르게 만들고, 실행하며, 조정하는 작업 방식</a:t>
            </a:r>
          </a:p>
        </p:txBody>
      </p:sp>
      <p:sp>
        <p:nvSpPr>
          <p:cNvPr id="8" name="Rectangle 7"/>
          <p:cNvSpPr/>
          <p:nvPr/>
        </p:nvSpPr>
        <p:spPr>
          <a:xfrm>
            <a:off x="6068415" y="2377440"/>
            <a:ext cx="54864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2651760"/>
            <a:ext cx="10180015" cy="457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20213" y="2651760"/>
            <a:ext cx="54864" cy="3108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2962656"/>
            <a:ext cx="3283610" cy="2633472"/>
          </a:xfrm>
          <a:prstGeom prst="rect">
            <a:avLst/>
          </a:prstGeom>
          <a:solidFill>
            <a:srgbClr val="F5F7FA"/>
          </a:solidFill>
          <a:ln w="1905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962656"/>
            <a:ext cx="3283610" cy="6400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108960"/>
            <a:ext cx="302757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6167"/>
                </a:solidFill>
                <a:latin typeface="Pretendard"/>
              </a:rPr>
              <a:t>Prompt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529584"/>
            <a:ext cx="302757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요청 품질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3913632"/>
            <a:ext cx="30275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명확한 지시문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역할 정의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범위 한정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8415" y="2651760"/>
            <a:ext cx="54864" cy="3108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54042" y="2962656"/>
            <a:ext cx="3283610" cy="2633472"/>
          </a:xfrm>
          <a:prstGeom prst="rect">
            <a:avLst/>
          </a:prstGeom>
          <a:solidFill>
            <a:srgbClr val="F5F7FA"/>
          </a:solidFill>
          <a:ln w="1905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54042" y="2962656"/>
            <a:ext cx="3283610" cy="6400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2058" y="3108960"/>
            <a:ext cx="302757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63EB"/>
                </a:solidFill>
                <a:latin typeface="Pretendard"/>
              </a:rPr>
              <a:t>Context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2058" y="3529584"/>
            <a:ext cx="302757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맥락과 기준점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2058" y="3913632"/>
            <a:ext cx="30275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STATUS.md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Backlog / DR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아키텍처 문서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16617" y="2651760"/>
            <a:ext cx="54864" cy="3108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2244" y="2962656"/>
            <a:ext cx="3283610" cy="2633472"/>
          </a:xfrm>
          <a:prstGeom prst="rect">
            <a:avLst/>
          </a:prstGeom>
          <a:solidFill>
            <a:srgbClr val="F5F7F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02244" y="2962656"/>
            <a:ext cx="328361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0260" y="3108960"/>
            <a:ext cx="302757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Pretendard"/>
              </a:rPr>
              <a:t>Harness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0260" y="3529584"/>
            <a:ext cx="302757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승인·검증·복구 절차 설계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0260" y="3913632"/>
            <a:ext cx="30275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State Machine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Plan/Approve gate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· FAIL/RECOVER 경로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세 레이어는 순차 단계가 아니다. Vibe Coding을 반복 가능하게 만드는 supporting layers다.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02 · AI Collaboration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같은 요청도 어느 레이어를 적용하느냐에 따라 결과의 품질이 달라진다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81912"/>
          <a:ext cx="10911534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4980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Layer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요청 방식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결과 특성</a:t>
                      </a:r>
                    </a:p>
                  </a:txBody>
                  <a:tcPr>
                    <a:solidFill>
                      <a:srgbClr val="0A0A0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Raw Vibe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"로그인 기능 만들어줘"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빠르게 생성, repo 스타일 무관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+ Prompt Engineering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"Spring Security+JWT, UserService 재사용, 단위 테스트 포함"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방향 명확, 기술 스택 일치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+ Context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STATUS.md Phase / ARCHITECTURE.md 모듈 구조 / DR-002 Auth 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repo 맥락과 정렬, 이전 결정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+ Harness Engineering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/work AUTH-003 → Plan → 승인 → 구현 → gradlew test → /done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범위 통제, 검증 기준 충족, STATUS 갱신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같은 '로그인 기능' 요청도 레이어가 추가될수록 repo 구조와 완료 기준에 맞아진다.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02 · AI Collaboration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Harness는 Agent의 자유도를 줄이는 것이 아니라 나의 작업 재현성을 높인다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356616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27632"/>
            <a:ext cx="54864" cy="65836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9222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63EB"/>
                </a:solidFill>
                <a:latin typeface="Pretendard"/>
              </a:rPr>
              <a:t>Context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79222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Pretendard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627632"/>
            <a:ext cx="6751015" cy="65836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792224"/>
            <a:ext cx="65224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F"/>
                </a:solidFill>
                <a:latin typeface="Pretendard"/>
              </a:rPr>
              <a:t>STATUS.md and context routing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68296"/>
            <a:ext cx="356616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368296"/>
            <a:ext cx="54864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3288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Pretendard"/>
              </a:rPr>
              <a:t>Scope drift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3288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Pretendard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2368296"/>
            <a:ext cx="6751015" cy="658368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532888"/>
            <a:ext cx="65224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F"/>
                </a:solidFill>
                <a:latin typeface="Pretendard"/>
              </a:rPr>
              <a:t>Plan and approval gate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08960"/>
            <a:ext cx="356616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108960"/>
            <a:ext cx="54864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7355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Pretendard"/>
              </a:rPr>
              <a:t>Silent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27355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Pretendard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3108960"/>
            <a:ext cx="6751015" cy="65836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3273552"/>
            <a:ext cx="65224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F"/>
                </a:solidFill>
                <a:latin typeface="Pretendard"/>
              </a:rPr>
              <a:t>Validation and FAIL/RECOVER loop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849624"/>
            <a:ext cx="356616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849624"/>
            <a:ext cx="54864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01421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Pretendard"/>
              </a:rPr>
              <a:t>Decision drift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01421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Pretendard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3849624"/>
            <a:ext cx="6751015" cy="658368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4014216"/>
            <a:ext cx="65224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F"/>
                </a:solidFill>
                <a:latin typeface="Pretendard"/>
              </a:rPr>
              <a:t>DR and Recent Decisions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590288"/>
            <a:ext cx="356616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590288"/>
            <a:ext cx="54864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75488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Pretendard"/>
              </a:rPr>
              <a:t>Onboarding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75488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Pretendard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4590288"/>
            <a:ext cx="6751015" cy="65836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754880"/>
            <a:ext cx="65224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F"/>
                </a:solidFill>
                <a:latin typeface="Pretendard"/>
              </a:rPr>
              <a:t>Workflow manual and scaffolding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개인 작업에서 재현성이 생기면, 그때부터 팀에 설명하고 공유할 수 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02 · AI Collaboration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도구를 평가할 기준이 없으면, 검증된 도구도 그냥 복잡성 추가일 뿐이다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36192"/>
            <a:ext cx="2590723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24078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63EB"/>
                </a:solidFill>
                <a:latin typeface="Pretendard"/>
              </a:rPr>
              <a:t>gstack (Garry Tan)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3683" y="1536192"/>
            <a:ext cx="2590723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5123" y="1627632"/>
            <a:ext cx="24078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63EB"/>
                </a:solidFill>
                <a:latin typeface="Pretendard"/>
              </a:rPr>
              <a:t>Superpowers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7287" y="1536192"/>
            <a:ext cx="2590723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627632"/>
            <a:ext cx="24078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63EB"/>
                </a:solidFill>
                <a:latin typeface="Pretendard"/>
              </a:rPr>
              <a:t>GSD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0891" y="1536192"/>
            <a:ext cx="2590723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331" y="1627632"/>
            <a:ext cx="24078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63EB"/>
                </a:solidFill>
                <a:latin typeface="Pretendard"/>
              </a:rPr>
              <a:t>Everything Claude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30552"/>
            <a:ext cx="109115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Pretendard"/>
              </a:rPr>
              <a:t>→  이미 검증된 도구들이 넘친다. 왜 직접 만드나?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87752"/>
            <a:ext cx="3500018" cy="2331720"/>
          </a:xfrm>
          <a:prstGeom prst="rect">
            <a:avLst/>
          </a:prstGeom>
          <a:solidFill>
            <a:srgbClr val="F5F7FA"/>
          </a:solidFill>
          <a:ln w="127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587752"/>
            <a:ext cx="3500018" cy="6400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15768"/>
            <a:ext cx="32256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6167"/>
                </a:solidFill>
                <a:latin typeface="Pretendard"/>
              </a:rPr>
              <a:t>판단 능력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136392"/>
            <a:ext cx="322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어느 부분을 채택하고 버릴지
알 수 있는가?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04488"/>
            <a:ext cx="322569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baseline 없이 설치하면
선택이 아니라 의존이 된다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5838" y="2587752"/>
            <a:ext cx="3500018" cy="2331720"/>
          </a:xfrm>
          <a:prstGeom prst="rect">
            <a:avLst/>
          </a:prstGeom>
          <a:solidFill>
            <a:srgbClr val="F5F7FA"/>
          </a:solidFill>
          <a:ln w="127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5838" y="2587752"/>
            <a:ext cx="3500018" cy="6400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2998" y="2715768"/>
            <a:ext cx="32256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63EB"/>
                </a:solidFill>
                <a:latin typeface="Pretendard"/>
              </a:rPr>
              <a:t>고장 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2998" y="3136392"/>
            <a:ext cx="322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내 컨텍스트에서 충돌할 때
고칠 수 있는가?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2998" y="3904488"/>
            <a:ext cx="322569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내가 만든 것만
어디를 고쳐야 하는지 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51596" y="2587752"/>
            <a:ext cx="3500018" cy="2331720"/>
          </a:xfrm>
          <a:prstGeom prst="rect">
            <a:avLst/>
          </a:prstGeom>
          <a:solidFill>
            <a:srgbClr val="F5F7FA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51596" y="2587752"/>
            <a:ext cx="350001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8756" y="2715768"/>
            <a:ext cx="32256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Pretendard"/>
              </a:rPr>
              <a:t>팀 설명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8756" y="3136392"/>
            <a:ext cx="322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왜 이 규칙이 필요한지
설명할 수 있는가?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8756" y="3904488"/>
            <a:ext cx="322569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"원래 그렇게 됐어요"는
팀 전파가 안 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21808"/>
            <a:ext cx="10911535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367528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retendard"/>
              </a:rPr>
              <a:t>Baseline을 먼저 소유한다.  그 다음 ecosystem을 선택적으로 흡수한다.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058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141C30"/>
                </a:solidFill>
                <a:latin typeface="DM Sans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64008" cy="274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Pretendard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29968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Pretendard"/>
              </a:rPr>
              <a:t>Harness v1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906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9669"/>
                </a:solidFill>
                <a:latin typeface="Pretendard"/>
              </a:rPr>
              <a:t>Lightweight Manual-First Harness v1은 무엇인가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03 · Harness v1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v1은 나의 manual-first baseline이고, v2는 enforcement layer를 더한다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36192"/>
            <a:ext cx="41148" cy="4480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4233672"/>
            <a:ext cx="10271455" cy="5486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4969" y="4187952"/>
            <a:ext cx="201168" cy="20116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856232"/>
            <a:ext cx="2090867" cy="2331720"/>
          </a:xfrm>
          <a:prstGeom prst="rect">
            <a:avLst/>
          </a:prstGeom>
          <a:solidFill>
            <a:srgbClr val="F5F7FA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9079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No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1907987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개인별 방식
불안정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5564" y="4187952"/>
            <a:ext cx="201168" cy="20116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60715" y="1856232"/>
            <a:ext cx="2090867" cy="2331720"/>
          </a:xfrm>
          <a:prstGeom prst="rect">
            <a:avLst/>
          </a:prstGeom>
          <a:solidFill>
            <a:srgbClr val="F5F7FA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2155" y="1965960"/>
            <a:ext cx="19079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Prompt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2155" y="2514600"/>
            <a:ext cx="1907987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재사용 요청
품질 개선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6159" y="4187952"/>
            <a:ext cx="201168" cy="20116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61310" y="1856232"/>
            <a:ext cx="2090867" cy="2331720"/>
          </a:xfrm>
          <a:prstGeom prst="rect">
            <a:avLst/>
          </a:prstGeom>
          <a:solidFill>
            <a:srgbClr val="EBF2FF"/>
          </a:solidFill>
          <a:ln w="1905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2750" y="1965960"/>
            <a:ext cx="19079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63EB"/>
                </a:solidFill>
                <a:latin typeface="Pretendard"/>
              </a:rPr>
              <a:t>Command+STATUS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2750" y="2514600"/>
            <a:ext cx="1907987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상태/명령 일부 도입
세션 연속성 개선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6754" y="4187952"/>
            <a:ext cx="20116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61905" y="1856232"/>
            <a:ext cx="2090867" cy="2331720"/>
          </a:xfrm>
          <a:prstGeom prst="rect">
            <a:avLst/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3345" y="1965960"/>
            <a:ext cx="19079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Harness v1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345" y="2514600"/>
            <a:ext cx="1907987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C8FF"/>
                </a:solidFill>
                <a:latin typeface="Pretendard"/>
              </a:rPr>
              <a:t>state machine
manual gates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07349" y="4187952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62500" y="1856232"/>
            <a:ext cx="2090867" cy="2331720"/>
          </a:xfrm>
          <a:prstGeom prst="rect">
            <a:avLst/>
          </a:prstGeom>
          <a:solidFill>
            <a:srgbClr val="05966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3940" y="1965960"/>
            <a:ext cx="19079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Harness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3940" y="2514600"/>
            <a:ext cx="1907987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F7D0"/>
                </a:solidFill>
                <a:latin typeface="Pretendard"/>
              </a:rPr>
              <a:t>hook/CI enforced
automated gates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35424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Pretendard"/>
              </a:rPr>
              <a:t>◄  manual ─────────────────────────────────── automated  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669280"/>
            <a:ext cx="54864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4944" y="5669280"/>
            <a:ext cx="10856671" cy="53035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751576"/>
            <a:ext cx="105000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Pretendard"/>
              </a:rPr>
              <a:t>v1은 완전 자동화가 아니라 반복 가능한 운영 기준을 제공하는 단계다.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03 · Harness v1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내가 반복 세션을 견디기 위해 세운 원칙은 네 가지다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5318607" cy="1965960"/>
          </a:xfrm>
          <a:prstGeom prst="rect">
            <a:avLst/>
          </a:prstGeom>
          <a:solidFill>
            <a:srgbClr val="F5F7FA"/>
          </a:solidFill>
          <a:ln w="254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27632"/>
            <a:ext cx="91440" cy="196596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37360"/>
            <a:ext cx="4971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663EB"/>
                </a:solidFill>
                <a:latin typeface="DM Sans"/>
              </a:rPr>
              <a:t>Deterministic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49424"/>
            <a:ext cx="497113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같은 상태에서 같은 절차로 재개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06624"/>
            <a:ext cx="4971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세션이 바뀌어도 동일한 시작점 보장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27632"/>
            <a:ext cx="5318607" cy="1965960"/>
          </a:xfrm>
          <a:prstGeom prst="rect">
            <a:avLst/>
          </a:prstGeom>
          <a:solidFill>
            <a:srgbClr val="F5F7FA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627632"/>
            <a:ext cx="91440" cy="1965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2463" y="1737360"/>
            <a:ext cx="4971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DM Sans"/>
              </a:rPr>
              <a:t>Stateful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2463" y="2249424"/>
            <a:ext cx="497113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STATUS.md로 현재 상태 유지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2463" y="2706624"/>
            <a:ext cx="4971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Agent와 사람이 같은 상태를 공유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40"/>
            <a:ext cx="5318607" cy="1965960"/>
          </a:xfrm>
          <a:prstGeom prst="rect">
            <a:avLst/>
          </a:prstGeom>
          <a:solidFill>
            <a:srgbClr val="F5F7FA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49040"/>
            <a:ext cx="91440" cy="1965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858768"/>
            <a:ext cx="4971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DM Sans"/>
              </a:rPr>
              <a:t>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370832"/>
            <a:ext cx="497113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Plan, Approval, Validation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828032"/>
            <a:ext cx="4971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scope 확장과 silent 실패 방지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3749040"/>
            <a:ext cx="5318607" cy="1965960"/>
          </a:xfrm>
          <a:prstGeom prst="rect">
            <a:avLst/>
          </a:prstGeom>
          <a:solidFill>
            <a:srgbClr val="F5F7FA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3007" y="3749040"/>
            <a:ext cx="91440" cy="1965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2463" y="3858768"/>
            <a:ext cx="4971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DM Sans"/>
              </a:rPr>
              <a:t>Failure-first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2463" y="4370832"/>
            <a:ext cx="497113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실패를 숨기지 않고
RECOVER 경로로 전환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2463" y="4828032"/>
            <a:ext cx="4971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실패를 예외가 아닌 명시적 상태로 다룸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03 · Harness v1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문서는 많아 보이지만 다음 세션의 나를 위해 각자 하나의 역할만 가진다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4572000" cy="4069080"/>
          </a:xfrm>
          <a:prstGeom prst="rect">
            <a:avLst/>
          </a:prstGeom>
          <a:solidFill>
            <a:srgbClr val="1E1E2E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4206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059669"/>
                </a:solidFill>
                <a:latin typeface="Courier New"/>
              </a:rPr>
              <a:t>          STATUS.md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59669"/>
                </a:solidFill>
                <a:latin typeface="Courier New"/>
              </a:rPr>
              <a:t>         (Live Board)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59669"/>
                </a:solidFill>
                <a:latin typeface="Courier New"/>
              </a:rPr>
              <a:t>              │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59669"/>
                </a:solidFill>
                <a:latin typeface="Courier New"/>
              </a:rPr>
              <a:t>   ┌──────────┼──────────┐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59669"/>
                </a:solidFill>
                <a:latin typeface="Courier New"/>
              </a:rPr>
              <a:t>   ▼          ▼          ▼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59669"/>
                </a:solidFill>
                <a:latin typeface="Courier New"/>
              </a:rPr>
              <a:t> backlog/  decisions/  AGENT-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59669"/>
                </a:solidFill>
                <a:latin typeface="Courier New"/>
              </a:rPr>
              <a:t>                       WORKFLOW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59669"/>
                </a:solidFill>
                <a:latin typeface="Courier New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59669"/>
                </a:solidFill>
                <a:latin typeface="Courier New"/>
              </a:rPr>
              <a:t> HARNESS-PROTOCOL.md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59669"/>
                </a:solidFill>
                <a:latin typeface="Courier New"/>
              </a:rPr>
              <a:t>   └── harness-protocol/*.md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59669"/>
                </a:solidFill>
                <a:latin typeface="Courier New"/>
              </a:rPr>
              <a:t>   ←── WORKFLOW-MANUAL.md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59669"/>
                </a:solidFill>
                <a:latin typeface="Courier New"/>
              </a:rPr>
              <a:t>        (human-facing)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5532120" y="1627632"/>
            <a:ext cx="6019495" cy="914400"/>
          </a:xfrm>
          <a:prstGeom prst="rect">
            <a:avLst/>
          </a:prstGeom>
          <a:solidFill>
            <a:srgbClr val="F5F7FA"/>
          </a:solidFill>
          <a:ln w="1905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32120" y="1627632"/>
            <a:ext cx="73152" cy="91440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1719072"/>
            <a:ext cx="5745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63EB"/>
                </a:solidFill>
                <a:latin typeface="Courier New"/>
              </a:rPr>
              <a:t>STATUS.md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130552"/>
            <a:ext cx="5745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현재 상태의 live 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2651760"/>
            <a:ext cx="6019495" cy="914400"/>
          </a:xfrm>
          <a:prstGeom prst="rect">
            <a:avLst/>
          </a:prstGeom>
          <a:solidFill>
            <a:srgbClr val="F5F7F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32120" y="2651760"/>
            <a:ext cx="73152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2743200"/>
            <a:ext cx="5745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ourier New"/>
              </a:rPr>
              <a:t>AGENT-WORKFLOW.md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154680"/>
            <a:ext cx="5745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3-tool shared 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3675888"/>
            <a:ext cx="6019495" cy="914400"/>
          </a:xfrm>
          <a:prstGeom prst="rect">
            <a:avLst/>
          </a:prstGeom>
          <a:solidFill>
            <a:srgbClr val="F5F7F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32120" y="3675888"/>
            <a:ext cx="73152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3767328"/>
            <a:ext cx="5745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ourier New"/>
              </a:rPr>
              <a:t>HARNESS-PROTOCOL.md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4178808"/>
            <a:ext cx="5745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protocol hub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4700016"/>
            <a:ext cx="6019495" cy="914400"/>
          </a:xfrm>
          <a:prstGeom prst="rect">
            <a:avLst/>
          </a:prstGeom>
          <a:solidFill>
            <a:srgbClr val="F5F7F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2120" y="4700016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4791456"/>
            <a:ext cx="5745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ourier New"/>
              </a:rPr>
              <a:t>WORKFLOW-MANUAL.md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5202936"/>
            <a:ext cx="5745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사람이 읽는 manual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내가 이해하는 manual과 Agent가 따르는 operating rules를 분리한다.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03 · Harness v1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Plan → Approval → Execute → Validate가 나의 기본 실행 루프다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2599" y="1993392"/>
            <a:ext cx="1389888" cy="5943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2599" y="212140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INIT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072487" y="2263140"/>
            <a:ext cx="182880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55367" y="1993392"/>
            <a:ext cx="1389888" cy="59436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5367" y="212140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45255" y="2263140"/>
            <a:ext cx="182880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28135" y="1993392"/>
            <a:ext cx="1389888" cy="59436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8135" y="212140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APPROVAL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8023" y="2263140"/>
            <a:ext cx="182880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00903" y="1993392"/>
            <a:ext cx="1389888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903" y="212140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EXECUTE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90791" y="2263140"/>
            <a:ext cx="182880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73671" y="1993392"/>
            <a:ext cx="1389888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3671" y="212140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VALIDATE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3559" y="2263140"/>
            <a:ext cx="182880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6439" y="1993392"/>
            <a:ext cx="1389888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6439" y="212140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CHECKPOINT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36327" y="2263140"/>
            <a:ext cx="182880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19207" y="1993392"/>
            <a:ext cx="1389888" cy="5943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19207" y="212140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8415" y="2587752"/>
            <a:ext cx="54864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18023" y="2935224"/>
            <a:ext cx="1389888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8023" y="306324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FAIL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7911" y="3204972"/>
            <a:ext cx="3200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27951" y="2935224"/>
            <a:ext cx="1389888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27951" y="306324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RECOVER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9279" y="30723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Pretendard"/>
              </a:rPr>
              <a:t>→ back to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776472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✗  plan 없이 구현하지 않는다.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↺  scope가 바뀌면 approval로 되돌아간다.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0A0A0F"/>
                </a:solidFill>
                <a:latin typeface="Pretendard"/>
              </a:rPr>
              <a:t>✗  validation이 실패하면 checkpoint나 commit으로 가지 않는다.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669280"/>
            <a:ext cx="54864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4944" y="5669280"/>
            <a:ext cx="10856671" cy="53035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751576"/>
            <a:ext cx="105000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Pretendard"/>
              </a:rPr>
              <a:t>핵심: 실행 전에 계획과 검증 기준을 합의한다. 빠름보다 재현 가능한 절차가 먼저다.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03 · Harness v1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STATUS.md는 Agent와 내가 공유하는 현재 상태의 single source다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2590723" cy="2560320"/>
          </a:xfrm>
          <a:prstGeom prst="rect">
            <a:avLst/>
          </a:prstGeom>
          <a:solidFill>
            <a:srgbClr val="F5F7FA"/>
          </a:solidFill>
          <a:ln w="254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27632"/>
            <a:ext cx="2590723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64792"/>
            <a:ext cx="23346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63EB"/>
                </a:solidFill>
                <a:latin typeface="Pretendard"/>
              </a:rPr>
              <a:t>Current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267712"/>
            <a:ext cx="233469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Pretendard"/>
              </a:rPr>
              <a:t>현재 phase, focus,
참조 문서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3683" y="1627632"/>
            <a:ext cx="2590723" cy="2560320"/>
          </a:xfrm>
          <a:prstGeom prst="rect">
            <a:avLst/>
          </a:prstGeom>
          <a:solidFill>
            <a:srgbClr val="F5F7FA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3683" y="1627632"/>
            <a:ext cx="2590723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1699" y="1764792"/>
            <a:ext cx="23346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Pretendard"/>
              </a:rPr>
              <a:t>Active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699" y="2267712"/>
            <a:ext cx="233469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Pretendard"/>
              </a:rPr>
              <a:t>진행 또는 완료된
주요 작업과 verification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1627632"/>
            <a:ext cx="2590723" cy="2560320"/>
          </a:xfrm>
          <a:prstGeom prst="rect">
            <a:avLst/>
          </a:prstGeom>
          <a:solidFill>
            <a:srgbClr val="F5F7FA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7287" y="1627632"/>
            <a:ext cx="2590723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5303" y="1764792"/>
            <a:ext cx="23346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Pretendard"/>
              </a:rPr>
              <a:t>Recent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5303" y="2267712"/>
            <a:ext cx="233469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Pretendard"/>
              </a:rPr>
              <a:t>후속 행동을 바꾸는
최근 결정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0891" y="1627632"/>
            <a:ext cx="2590723" cy="2560320"/>
          </a:xfrm>
          <a:prstGeom prst="rect">
            <a:avLst/>
          </a:prstGeom>
          <a:solidFill>
            <a:srgbClr val="F5F7FA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0891" y="1627632"/>
            <a:ext cx="2590723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8907" y="1764792"/>
            <a:ext cx="23346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Pretendard"/>
              </a:rPr>
              <a:t>Next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8907" y="2267712"/>
            <a:ext cx="233469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Pretendard"/>
              </a:rPr>
              <a:t>다음 세션의 우선순위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16552"/>
            <a:ext cx="54864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944" y="4416552"/>
            <a:ext cx="10856671" cy="5486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507992"/>
            <a:ext cx="105640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Pretendard"/>
              </a:rPr>
              <a:t>⚠  Anti-pattern: STATUS.md를 건너뛰고 작업을 시작하면 Agent도, 다음 세션의 나도 현재 상태를 추측하게 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Source: docs/STATUS.md (live capture)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03 · Harness v1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Claude Code, Cursor, Codex는 같은 규칙을 다른 방식으로 따른다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36192"/>
            <a:ext cx="54864" cy="50292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536192"/>
            <a:ext cx="10856671" cy="50292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10545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retendard"/>
              </a:rPr>
              <a:t>공통 운영 규칙 — docs/AGENT-WORKFLOW.md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454298" cy="2926080"/>
          </a:xfrm>
          <a:prstGeom prst="rect">
            <a:avLst/>
          </a:prstGeom>
          <a:solidFill>
            <a:srgbClr val="F5F7FA"/>
          </a:solidFill>
          <a:ln w="254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3454298" cy="9144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59152"/>
            <a:ext cx="312511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663EB"/>
                </a:solidFill>
                <a:latin typeface="DM Sans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52928"/>
            <a:ext cx="31251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Pretendard"/>
              </a:rPr>
              <a:t>Entry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63824"/>
            <a:ext cx="312511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F"/>
                </a:solidFill>
                <a:latin typeface="Courier New"/>
              </a:rPr>
              <a:t>CLAUDE.md
.claude/commands/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877056"/>
            <a:ext cx="31251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Pretendard"/>
              </a:rPr>
              <a:t>Execution 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187952"/>
            <a:ext cx="312511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F"/>
                </a:solidFill>
                <a:latin typeface="Pretendard"/>
              </a:rPr>
              <a:t>slash command 중심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8698" y="2194560"/>
            <a:ext cx="3454298" cy="2926080"/>
          </a:xfrm>
          <a:prstGeom prst="rect">
            <a:avLst/>
          </a:prstGeom>
          <a:solidFill>
            <a:srgbClr val="F5F7FA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8698" y="2194560"/>
            <a:ext cx="345429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3290" y="2359152"/>
            <a:ext cx="312511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DM Sans"/>
              </a:rPr>
              <a:t>Cursor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3290" y="2852928"/>
            <a:ext cx="31251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Pretendard"/>
              </a:rPr>
              <a:t>Entry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290" y="3163824"/>
            <a:ext cx="312511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F"/>
                </a:solidFill>
                <a:latin typeface="Courier New"/>
              </a:rPr>
              <a:t>.cursor/rules/*.mdc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3290" y="3877056"/>
            <a:ext cx="31251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Pretendard"/>
              </a:rPr>
              <a:t>Execution Style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3290" y="4187952"/>
            <a:ext cx="312511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F"/>
                </a:solidFill>
                <a:latin typeface="Pretendard"/>
              </a:rPr>
              <a:t>editor workflow 중심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7316" y="2194560"/>
            <a:ext cx="3454298" cy="2926080"/>
          </a:xfrm>
          <a:prstGeom prst="rect">
            <a:avLst/>
          </a:prstGeom>
          <a:solidFill>
            <a:srgbClr val="F5F7FA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7316" y="2194560"/>
            <a:ext cx="3454298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1908" y="2359152"/>
            <a:ext cx="312511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DM Sans"/>
              </a:rPr>
              <a:t>Codex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1908" y="2852928"/>
            <a:ext cx="31251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Pretendard"/>
              </a:rPr>
              <a:t>Entry 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1908" y="3163824"/>
            <a:ext cx="312511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F"/>
                </a:solidFill>
                <a:latin typeface="Courier New"/>
              </a:rPr>
              <a:t>AGENTS.md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1908" y="3877056"/>
            <a:ext cx="31251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Pretendard"/>
              </a:rPr>
              <a:t>Execution 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1908" y="4187952"/>
            <a:ext cx="312511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F"/>
                </a:solidFill>
                <a:latin typeface="Pretendard"/>
              </a:rPr>
              <a:t>command mapping을
수동 절차로 수행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도구별 UX는 달라도 공통 운영 규칙은 docs/AGENT-WORKFLOW.md로 정렬한다.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03 · Harness v1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create-harness.sh는 Harness를 다른 repo에 이식하기 위한 장치다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4572000" cy="2743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92224"/>
            <a:ext cx="4206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059669"/>
                </a:solidFill>
                <a:latin typeface="Courier New"/>
              </a:rPr>
              <a:t>$ bash create-harness.sh \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59669"/>
                </a:solidFill>
                <a:latin typeface="Courier New"/>
              </a:rPr>
              <a:t>    --profile generic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59669"/>
                </a:solidFill>
                <a:latin typeface="Courier New"/>
              </a:rPr>
              <a:t>    --profile spring-boot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59669"/>
                </a:solidFill>
                <a:latin typeface="Courier New"/>
              </a:rPr>
              <a:t>    --existing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59669"/>
                </a:solidFill>
                <a:latin typeface="Courier New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59669"/>
                </a:solidFill>
                <a:latin typeface="Courier New"/>
              </a:rPr>
              <a:t># 기존 프로젝트는 --existing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2862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663EB"/>
                </a:solidFill>
                <a:latin typeface="Pretendard"/>
              </a:rPr>
              <a:t>▶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719072"/>
            <a:ext cx="128016" cy="128016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627632"/>
            <a:ext cx="5470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F"/>
                </a:solidFill>
                <a:latin typeface="Courier New"/>
              </a:rPr>
              <a:t>docs/STATUS.md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2103120"/>
            <a:ext cx="128016" cy="128016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011680"/>
            <a:ext cx="5470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F"/>
                </a:solidFill>
                <a:latin typeface="Courier New"/>
              </a:rPr>
              <a:t>docs/HARNESS-PROTOCOL.md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2487168"/>
            <a:ext cx="128016" cy="128016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395728"/>
            <a:ext cx="5470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F"/>
                </a:solidFill>
                <a:latin typeface="Courier New"/>
              </a:rPr>
              <a:t>docs/HARNESS-QUICK-REFERENCE.md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2871216"/>
            <a:ext cx="128016" cy="1280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779776"/>
            <a:ext cx="5470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F"/>
                </a:solidFill>
                <a:latin typeface="Courier New"/>
              </a:rPr>
              <a:t>docs/harness-protocol/*.md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3255264"/>
            <a:ext cx="128016" cy="1280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163824"/>
            <a:ext cx="5470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F"/>
                </a:solidFill>
                <a:latin typeface="Courier New"/>
              </a:rPr>
              <a:t>.claude/commands/*.md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3639312"/>
            <a:ext cx="128016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3547872"/>
            <a:ext cx="5470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F"/>
                </a:solidFill>
                <a:latin typeface="Courier New"/>
              </a:rPr>
              <a:t>.cursor/rules/*.mdc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4023360"/>
            <a:ext cx="128016" cy="1280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931920"/>
            <a:ext cx="5470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F"/>
                </a:solidFill>
                <a:latin typeface="Courier New"/>
              </a:rPr>
              <a:t>CLAUDE.md  /  AGENTS.md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10912"/>
            <a:ext cx="54864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4944" y="5010912"/>
            <a:ext cx="10856671" cy="53035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93208"/>
            <a:ext cx="105000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Pretendard"/>
              </a:rPr>
              <a:t>v1은 내 개인 프로젝트에만 붙어 있는 규칙이 아니라, 다른 프로젝트와 팀에도 옮길 수 있는 구조를 지향한다.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Source: create-harness.sh, docs/WORKFLOW-MANUAL.md § 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03 · Harness v1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v1의 완성도는 자동화 수준이 아니라 반복 가능성으로 평가해야 한다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36192"/>
          <a:ext cx="1091153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v1 Provides ✅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v1 Does Not Yet Enforce ⏳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Manual state machine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Hook 기반 hard block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STATUS Update Proposal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자동 stale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Context routing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SSOT config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DR and recovery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CI-level policy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Scaffolding baseline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A0A0F"/>
                          </a:solidFill>
                          <a:latin typeface="Pretendard"/>
                        </a:rPr>
                        <a:t>template upgrade automation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321808"/>
            <a:ext cx="54864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5321808"/>
            <a:ext cx="10856671" cy="566928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367528"/>
            <a:ext cx="105640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3AED"/>
                </a:solidFill>
                <a:latin typeface="Pretendard"/>
              </a:rPr>
              <a:t>v2 Direction: hook, CI, .harness/config.json, drift detection → manual-first를 enforceable workflow로 발전시킨다.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Source: docs/retrospectives/harness-evaluation-20260514.md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058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141C30"/>
                </a:solidFill>
                <a:latin typeface="DM Sans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64008" cy="2743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Pretendard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29968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Pretendard"/>
              </a:rPr>
              <a:t>Usage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906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Pretendard"/>
              </a:rPr>
              <a:t>개인 baseline을 어떻게 팀에 공유할 것인가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04 · Usage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내 개인 baseline을 신규 프로젝트에도 세 단계로 붙일 수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3454298" cy="3657600"/>
          </a:xfrm>
          <a:prstGeom prst="rect">
            <a:avLst/>
          </a:prstGeom>
          <a:solidFill>
            <a:srgbClr val="F5F7FA"/>
          </a:solidFill>
          <a:ln w="254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DM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92224"/>
            <a:ext cx="258561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63EB"/>
                </a:solidFill>
                <a:latin typeface="Pretendard"/>
              </a:rPr>
              <a:t>Scaffold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179978" cy="960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50592"/>
            <a:ext cx="295137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  <a:latin typeface="Courier New"/>
              </a:rPr>
              <a:t>bash create-harness.sh
--profile generic ./my-project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02151"/>
            <a:ext cx="3179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Pretendard"/>
              </a:rPr>
              <a:t>Output: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22192"/>
            <a:ext cx="31799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F"/>
                </a:solidFill>
                <a:latin typeface="Pretendard"/>
              </a:rPr>
              <a:t>Harness file structure 생성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698" y="1627632"/>
            <a:ext cx="3454298" cy="3657600"/>
          </a:xfrm>
          <a:prstGeom prst="rect">
            <a:avLst/>
          </a:prstGeom>
          <a:solidFill>
            <a:srgbClr val="F5F7FA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5858" y="1737360"/>
            <a:ext cx="4572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5858" y="17830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DM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0218" y="1792224"/>
            <a:ext cx="258561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Pretendard"/>
              </a:rPr>
              <a:t>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5858" y="2377440"/>
            <a:ext cx="3179978" cy="960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4730" y="2450592"/>
            <a:ext cx="295137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  <a:latin typeface="Courier New"/>
              </a:rPr>
              <a:t>생성된 STATUS.md,
entrypoints, rules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5858" y="3502151"/>
            <a:ext cx="3179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Pretendard"/>
              </a:rPr>
              <a:t>Output: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5858" y="3822192"/>
            <a:ext cx="31799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F"/>
                </a:solidFill>
                <a:latin typeface="Pretendard"/>
              </a:rPr>
              <a:t>project-specific adjustment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7316" y="1627632"/>
            <a:ext cx="3454298" cy="3657600"/>
          </a:xfrm>
          <a:prstGeom prst="rect">
            <a:avLst/>
          </a:prstGeom>
          <a:solidFill>
            <a:srgbClr val="F5F7FA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34476" y="1737360"/>
            <a:ext cx="45720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4476" y="17830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DM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8836" y="1792224"/>
            <a:ext cx="258561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Pretendard"/>
              </a:rPr>
              <a:t>Commit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34476" y="2377440"/>
            <a:ext cx="3179978" cy="960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3348" y="2450592"/>
            <a:ext cx="295137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  <a:latin typeface="Courier New"/>
              </a:rPr>
              <a:t>chore: AI Workflow
Harness 초기 구성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4476" y="3502151"/>
            <a:ext cx="3179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Pretendard"/>
              </a:rPr>
              <a:t>Output: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4476" y="3822192"/>
            <a:ext cx="317997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F"/>
                </a:solidFill>
                <a:latin typeface="Pretendard"/>
              </a:rPr>
              <a:t>baseline checkpoint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21808"/>
            <a:ext cx="54864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" y="5321808"/>
            <a:ext cx="10856671" cy="502920"/>
          </a:xfrm>
          <a:prstGeom prst="rect">
            <a:avLst/>
          </a:prstGeom>
          <a:solidFill>
            <a:srgbClr val="FF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5367528"/>
            <a:ext cx="105640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  <a:latin typeface="Pretendard"/>
              </a:rPr>
              <a:t>Note: 기존 프로젝트는 --existing으로 overlay. 기존 파일 overwrite는 피한다.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04 · Usage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첫 세션 10분 루틴은 STATUS에서 시작한다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2618155" cy="1737360"/>
          </a:xfrm>
          <a:prstGeom prst="rect">
            <a:avLst/>
          </a:prstGeom>
          <a:solidFill>
            <a:srgbClr val="EBF2FF"/>
          </a:solidFill>
          <a:ln w="127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663EB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75104"/>
            <a:ext cx="24352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63EB"/>
                </a:solidFill>
                <a:latin typeface="Courier New"/>
              </a:rPr>
              <a:t>/start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24912"/>
            <a:ext cx="24352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현재 상태 로드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4539" y="1627632"/>
            <a:ext cx="2618155" cy="1737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5979" y="17190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7EB"/>
                </a:solidFill>
                <a:latin typeface="Pretendar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5979" y="1975104"/>
            <a:ext cx="24352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Current State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5979" y="2724912"/>
            <a:ext cx="24352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phase / focus 점검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8999" y="1627632"/>
            <a:ext cx="2618155" cy="1737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0439" y="17190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7EB"/>
                </a:solidFill>
                <a:latin typeface="Pretendar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0439" y="1975104"/>
            <a:ext cx="24352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Next Actions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0439" y="2724912"/>
            <a:ext cx="24352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우선순위 파악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33459" y="1627632"/>
            <a:ext cx="2618155" cy="1737360"/>
          </a:xfrm>
          <a:prstGeom prst="rect">
            <a:avLst/>
          </a:prstGeom>
          <a:solidFill>
            <a:srgbClr val="EBF2FF"/>
          </a:solidFill>
          <a:ln w="127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4899" y="17190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663EB"/>
                </a:solidFill>
                <a:latin typeface="Pretendar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4899" y="1975104"/>
            <a:ext cx="24352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63EB"/>
                </a:solidFill>
                <a:latin typeface="Courier New"/>
              </a:rPr>
              <a:t>/pick or /work &lt;ID&gt;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4899" y="2724912"/>
            <a:ext cx="24352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작업 선택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47872"/>
            <a:ext cx="2618155" cy="1737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393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7EB"/>
                </a:solidFill>
                <a:latin typeface="Pretendar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95344"/>
            <a:ext cx="24352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plan / risk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45152"/>
            <a:ext cx="24352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범위 합의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04539" y="3547872"/>
            <a:ext cx="2618155" cy="1737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5979" y="36393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7EB"/>
                </a:solidFill>
                <a:latin typeface="Pretendard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5979" y="3895344"/>
            <a:ext cx="24352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승인 후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5979" y="4645152"/>
            <a:ext cx="24352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Approval gate 통과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8999" y="3547872"/>
            <a:ext cx="2618155" cy="1737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0439" y="36393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7EB"/>
                </a:solidFill>
                <a:latin typeface="Pretendard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0439" y="3895344"/>
            <a:ext cx="24352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검증 결과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0439" y="4645152"/>
            <a:ext cx="24352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Done Criteria 충족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33459" y="3547872"/>
            <a:ext cx="2618155" cy="1737360"/>
          </a:xfrm>
          <a:prstGeom prst="rect">
            <a:avLst/>
          </a:prstGeom>
          <a:solidFill>
            <a:srgbClr val="EBF2FF"/>
          </a:solidFill>
          <a:ln w="127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4899" y="36393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663EB"/>
                </a:solidFill>
                <a:latin typeface="Pretendard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4899" y="3895344"/>
            <a:ext cx="24352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663EB"/>
                </a:solidFill>
                <a:latin typeface="Courier New"/>
              </a:rPr>
              <a:t>/done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4899" y="4645152"/>
            <a:ext cx="24352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완료 보고 + STATUS 갱신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처음부터 많은 규칙을 외우는 것이 아니라, 매 세션 같은 방식으로 시작하고 끝내는 것이 핵심이다.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04 · Usage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8개 command는 내가 반복하는 작업 lifecycle을 나눠 맡는다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81912"/>
            <a:ext cx="2618155" cy="1417320"/>
          </a:xfrm>
          <a:prstGeom prst="rect">
            <a:avLst/>
          </a:prstGeom>
          <a:solidFill>
            <a:srgbClr val="EBF2FF"/>
          </a:solidFill>
          <a:ln w="127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73352"/>
            <a:ext cx="2435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63EB"/>
                </a:solidFill>
                <a:latin typeface="Courier New"/>
              </a:rPr>
              <a:t>/start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12264"/>
            <a:ext cx="2435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F"/>
                </a:solidFill>
                <a:latin typeface="Pretendard"/>
              </a:rPr>
              <a:t>현재 상태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24352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세션 시작 진입점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4539" y="1581912"/>
            <a:ext cx="2618155" cy="1417320"/>
          </a:xfrm>
          <a:prstGeom prst="rect">
            <a:avLst/>
          </a:prstGeom>
          <a:solidFill>
            <a:srgbClr val="EBF2FF"/>
          </a:solidFill>
          <a:ln w="127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5979" y="1673352"/>
            <a:ext cx="2435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63EB"/>
                </a:solidFill>
                <a:latin typeface="Courier New"/>
              </a:rPr>
              <a:t>/pick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5979" y="2112264"/>
            <a:ext cx="2435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F"/>
                </a:solidFill>
                <a:latin typeface="Pretendard"/>
              </a:rPr>
              <a:t>다음 작업 후보 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5979" y="2542032"/>
            <a:ext cx="24352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우선순위 기반 선택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8999" y="1581912"/>
            <a:ext cx="2618155" cy="1417320"/>
          </a:xfrm>
          <a:prstGeom prst="rect">
            <a:avLst/>
          </a:prstGeom>
          <a:solidFill>
            <a:srgbClr val="EBF2FF"/>
          </a:solidFill>
          <a:ln w="127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0439" y="1673352"/>
            <a:ext cx="2435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63EB"/>
                </a:solidFill>
                <a:latin typeface="Courier New"/>
              </a:rPr>
              <a:t>/register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0439" y="2112264"/>
            <a:ext cx="2435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F"/>
                </a:solidFill>
                <a:latin typeface="Pretendard"/>
              </a:rPr>
              <a:t>새 작업 등록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0439" y="2542032"/>
            <a:ext cx="24352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backlog에 추가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33459" y="1581912"/>
            <a:ext cx="2618155" cy="1417320"/>
          </a:xfrm>
          <a:prstGeom prst="rect">
            <a:avLst/>
          </a:prstGeom>
          <a:solidFill>
            <a:srgbClr val="EBF2FF"/>
          </a:solidFill>
          <a:ln w="127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4899" y="1673352"/>
            <a:ext cx="2435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63EB"/>
                </a:solidFill>
                <a:latin typeface="Courier New"/>
              </a:rPr>
              <a:t>/work &lt;ID&gt;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4899" y="2112264"/>
            <a:ext cx="2435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F"/>
                </a:solidFill>
                <a:latin typeface="Pretendard"/>
              </a:rPr>
              <a:t>작업 계획 수립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4899" y="2542032"/>
            <a:ext cx="24352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scope / risk / verification 정의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200400"/>
            <a:ext cx="2618155" cy="1417320"/>
          </a:xfrm>
          <a:prstGeom prst="rect">
            <a:avLst/>
          </a:prstGeom>
          <a:solidFill>
            <a:srgbClr val="EBF2FF"/>
          </a:solidFill>
          <a:ln w="127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91840"/>
            <a:ext cx="2435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63EB"/>
                </a:solidFill>
                <a:latin typeface="Courier New"/>
              </a:rPr>
              <a:t>/resume &lt;ID&gt;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30752"/>
            <a:ext cx="2435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F"/>
                </a:solidFill>
                <a:latin typeface="Pretendard"/>
              </a:rPr>
              <a:t>중단 작업 재개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24352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checkpoint에서 재개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04539" y="3200400"/>
            <a:ext cx="2618155" cy="1417320"/>
          </a:xfrm>
          <a:prstGeom prst="rect">
            <a:avLst/>
          </a:prstGeom>
          <a:solidFill>
            <a:srgbClr val="EBF2FF"/>
          </a:solidFill>
          <a:ln w="127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5979" y="3291840"/>
            <a:ext cx="2435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63EB"/>
                </a:solidFill>
                <a:latin typeface="Courier New"/>
              </a:rPr>
              <a:t>/doc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5979" y="3730752"/>
            <a:ext cx="2435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F"/>
                </a:solidFill>
                <a:latin typeface="Pretendard"/>
              </a:rPr>
              <a:t>발표·보고 산출물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5979" y="4160520"/>
            <a:ext cx="24352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문서 생성 전용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8999" y="3200400"/>
            <a:ext cx="2618155" cy="1417320"/>
          </a:xfrm>
          <a:prstGeom prst="rect">
            <a:avLst/>
          </a:prstGeom>
          <a:solidFill>
            <a:srgbClr val="EBF2FF"/>
          </a:solidFill>
          <a:ln w="127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0439" y="3291840"/>
            <a:ext cx="2435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63EB"/>
                </a:solidFill>
                <a:latin typeface="Courier New"/>
              </a:rPr>
              <a:t>/health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0439" y="3730752"/>
            <a:ext cx="2435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F"/>
                </a:solidFill>
                <a:latin typeface="Pretendard"/>
              </a:rPr>
              <a:t>workflow 상태 점검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0439" y="4160520"/>
            <a:ext cx="24352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Harness 전체 상태 확인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33459" y="3200400"/>
            <a:ext cx="2618155" cy="1417320"/>
          </a:xfrm>
          <a:prstGeom prst="rect">
            <a:avLst/>
          </a:prstGeom>
          <a:solidFill>
            <a:srgbClr val="EBF2FF"/>
          </a:solidFill>
          <a:ln w="127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24899" y="3291840"/>
            <a:ext cx="2435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63EB"/>
                </a:solidFill>
                <a:latin typeface="Courier New"/>
              </a:rPr>
              <a:t>/done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4899" y="3730752"/>
            <a:ext cx="24352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F"/>
                </a:solidFill>
                <a:latin typeface="Pretendard"/>
              </a:rPr>
              <a:t>완료 보고와 상태 갱신 제안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4899" y="4160520"/>
            <a:ext cx="24352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세션 종료 진입점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Source: docs/HARNESS-QUICK-REFERENCE.md, .claude/commands/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04 · Usage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실제 한 사이클은 스스로 계획을 확인하고 검증한 뒤 종료한다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777240" cy="56692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73936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</a:rPr>
              <a:t>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627632"/>
            <a:ext cx="10134295" cy="566928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46504"/>
            <a:ext cx="990569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ourier New"/>
              </a:rPr>
              <a:t>/work HRN-013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40864"/>
            <a:ext cx="777240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</a:rPr>
              <a:t>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2340864"/>
            <a:ext cx="10134295" cy="56692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459736"/>
            <a:ext cx="990569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Pretendard"/>
              </a:rPr>
              <a:t>scope, risk, files, verification을 보고합니다. 진행할까요?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54096"/>
            <a:ext cx="777240" cy="56692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</a:rPr>
              <a:t>User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3054096"/>
            <a:ext cx="10134295" cy="566928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172968"/>
            <a:ext cx="990569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Pretendard"/>
              </a:rPr>
              <a:t>진행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67328"/>
            <a:ext cx="777240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</a:rPr>
              <a:t>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3767328"/>
            <a:ext cx="10134295" cy="56692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3886200"/>
            <a:ext cx="990569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Pretendard"/>
              </a:rPr>
              <a:t>구현 후 validation 실행 → 검증 결과와 STATUS Update Proposal 보고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80560"/>
            <a:ext cx="777240" cy="56692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2686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</a:rPr>
              <a:t>User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4480560"/>
            <a:ext cx="10134295" cy="566928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4599432"/>
            <a:ext cx="990569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Pretendard"/>
              </a:rPr>
              <a:t>승인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193792"/>
            <a:ext cx="777240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40096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</a:rPr>
              <a:t>Agent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" y="5193792"/>
            <a:ext cx="10134295" cy="56692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5312664"/>
            <a:ext cx="990569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ourier New"/>
              </a:rPr>
              <a:t>/done summary와 commit readiness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Source: docs/STATUS.md § Active Work (HRN-013)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663EB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Pretendard"/>
              </a:rPr>
              <a:t>Section 04 · Usage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F"/>
                </a:solidFill>
                <a:latin typeface="Pretendard"/>
              </a:rPr>
              <a:t>내가 반복해서 겪은 실수는 대체로 네 가지였다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5318607" cy="1920240"/>
          </a:xfrm>
          <a:prstGeom prst="rect">
            <a:avLst/>
          </a:prstGeom>
          <a:solidFill>
            <a:srgbClr val="F5F7F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27632"/>
            <a:ext cx="73152" cy="1920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19072"/>
            <a:ext cx="49985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Pretendard"/>
              </a:rPr>
              <a:t>STATUS.md skip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76272"/>
            <a:ext cx="4998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증상: Agent가 엉뚱한 작업을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15184"/>
            <a:ext cx="49985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Fix: /start로 시작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27632"/>
            <a:ext cx="5318607" cy="1920240"/>
          </a:xfrm>
          <a:prstGeom prst="rect">
            <a:avLst/>
          </a:prstGeom>
          <a:solidFill>
            <a:srgbClr val="F5F7F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627632"/>
            <a:ext cx="73152" cy="1920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4175" y="1719072"/>
            <a:ext cx="49985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Pretendard"/>
              </a:rPr>
              <a:t>Plan 없이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4175" y="2176272"/>
            <a:ext cx="4998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증상: scope drift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4175" y="2615184"/>
            <a:ext cx="49985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Fix: /work로 plan 승인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85032"/>
            <a:ext cx="5318607" cy="1920240"/>
          </a:xfrm>
          <a:prstGeom prst="rect">
            <a:avLst/>
          </a:prstGeom>
          <a:solidFill>
            <a:srgbClr val="F5F7F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85032"/>
            <a:ext cx="73152" cy="1920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776472"/>
            <a:ext cx="49985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Pretendard"/>
              </a:rPr>
              <a:t>Validation 생략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233672"/>
            <a:ext cx="4998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증상: 조용한 회귀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672584"/>
            <a:ext cx="49985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Fix: Done 전 test/report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3685032"/>
            <a:ext cx="5318607" cy="1920240"/>
          </a:xfrm>
          <a:prstGeom prst="rect">
            <a:avLst/>
          </a:prstGeom>
          <a:solidFill>
            <a:srgbClr val="F5F7F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3007" y="3685032"/>
            <a:ext cx="73152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4175" y="3776472"/>
            <a:ext cx="49985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Pretendard"/>
              </a:rPr>
              <a:t>DR 생략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4175" y="4233672"/>
            <a:ext cx="49985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Pretendard"/>
              </a:rPr>
              <a:t>증상: 결정 이유 상실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4175" y="4672584"/>
            <a:ext cx="49985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F"/>
                </a:solidFill>
                <a:latin typeface="Pretendard"/>
              </a:rPr>
              <a:t>Fix: reversal cost가 있으면 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Pretendard"/>
              </a:rPr>
              <a:t>Harness는 복잡한 규칙 모음이 아니라 내가 반복해서 겪은 실수를 막는 최소 운영 장치다.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3C5FD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Pretendard"/>
              </a:rPr>
              <a:t>Section 05 ·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911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retendard"/>
              </a:rPr>
              <a:t>오늘 가져갈 메시지는 세 가지다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19072"/>
            <a:ext cx="3454298" cy="3794760"/>
          </a:xfrm>
          <a:prstGeom prst="rect">
            <a:avLst/>
          </a:prstGeom>
          <a:solidFill>
            <a:srgbClr val="141C30"/>
          </a:solidFill>
          <a:ln w="1905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19072"/>
            <a:ext cx="3454298" cy="731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56232"/>
            <a:ext cx="30885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6167"/>
                </a:solidFill>
                <a:latin typeface="DM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08853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출발은 개인적
Vibe Coding 실험이었다.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308853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Pretendard"/>
              </a:rPr>
              <a:t>팀 표준을 목표로 시작하지 않았다. 개인 시행착오에서 반복 가능한 방식의 필요성이 드러났다.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719072"/>
            <a:ext cx="3454298" cy="3794760"/>
          </a:xfrm>
          <a:prstGeom prst="rect">
            <a:avLst/>
          </a:prstGeom>
          <a:solidFill>
            <a:srgbClr val="141C3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698" y="1719072"/>
            <a:ext cx="3454298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1578" y="1856232"/>
            <a:ext cx="30885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DM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377440"/>
            <a:ext cx="308853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Harness v1은 그 실험을
manual-first baseline으로 정리한 결과다.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578" y="3474720"/>
            <a:ext cx="308853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Pretendard"/>
              </a:rPr>
              <a:t>State machine, STATUS.md, 3-Tool 정렬, Scaffolding — 4가지가 핵심 구조다.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7316" y="1719072"/>
            <a:ext cx="3454298" cy="3794760"/>
          </a:xfrm>
          <a:prstGeom prst="rect">
            <a:avLst/>
          </a:prstGeom>
          <a:solidFill>
            <a:srgbClr val="141C30"/>
          </a:solidFill>
          <a:ln w="1905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1719072"/>
            <a:ext cx="3454298" cy="7315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0196" y="1856232"/>
            <a:ext cx="30885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663EB"/>
                </a:solidFill>
                <a:latin typeface="DM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196" y="2377440"/>
            <a:ext cx="308853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다음은 이 baseline을 팀에
공유하고 v2로 발전시키는 것이다.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0196" y="3474720"/>
            <a:ext cx="308853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Pretendard"/>
              </a:rPr>
              <a:t>hook, CI gate, drift detection으로 manual-first → enforceable workflow로 진화한다.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559552"/>
            <a:ext cx="10911535" cy="438912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605272"/>
            <a:ext cx="10545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Pretendard"/>
              </a:rPr>
              <a:t>Repo: github.com/kyungseo/base-msa-template  —  Private, 검증 후 Public 전환 예정.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9814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Pretendard"/>
              </a:rPr>
              <a:t>Synthesized from entire presentation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7135" y="914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3C5FD"/>
                </a:solidFill>
                <a:latin typeface="DM Sans"/>
              </a:rPr>
              <a:t>KYUNGSEO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9115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DM Sans"/>
              </a:rPr>
              <a:t>Q &amp; A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3474720"/>
            <a:ext cx="4114800" cy="36576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75887"/>
            <a:ext cx="1091153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0">
                <a:solidFill>
                  <a:srgbClr val="9CA3AF"/>
                </a:solidFill>
                <a:latin typeface="Pretendard"/>
              </a:rPr>
              <a:t>박경서</a:t>
            </a:r>
          </a:p>
          <a:p>
            <a:pPr algn="ctr">
              <a:spcBef>
                <a:spcPts val="500"/>
              </a:spcBef>
            </a:pPr>
            <a:r>
              <a:rPr sz="1400" b="0">
                <a:solidFill>
                  <a:srgbClr val="9CA3AF"/>
                </a:solidFill>
                <a:latin typeface="Pretendard"/>
              </a:rPr>
              <a:t>Kyungseo.Park@gmail.com</a:t>
            </a:r>
          </a:p>
          <a:p>
            <a:pPr algn="ctr">
              <a:spcBef>
                <a:spcPts val="500"/>
              </a:spcBef>
            </a:pPr>
            <a:r>
              <a:rPr sz="1400" b="0">
                <a:solidFill>
                  <a:srgbClr val="9CA3AF"/>
                </a:solidFill>
                <a:latin typeface="Pretendard"/>
              </a:rPr>
              <a:t>Repo: github.com/kyungseo/base-msa-template</a:t>
            </a:r>
          </a:p>
          <a:p>
            <a:pPr algn="ctr">
              <a:spcBef>
                <a:spcPts val="500"/>
              </a:spcBef>
            </a:pPr>
            <a:r>
              <a:rPr sz="1400" b="0">
                <a:solidFill>
                  <a:srgbClr val="9CA3AF"/>
                </a:solidFill>
                <a:latin typeface="Pretendard"/>
              </a:rPr>
              <a:t>(Private — 검증 후 Public 전환 예정)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