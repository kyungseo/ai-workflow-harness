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e4365c9744779" /><Relationship Type="http://schemas.openxmlformats.org/officeDocument/2006/relationships/extended-properties" Target="/docProps/app.xml" Id="R759dd617315c49ce" /><Relationship Type="http://schemas.openxmlformats.org/officeDocument/2006/relationships/officeDocument" Target="/ppt/presentation.xml" Id="R744a4efb912e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d0f228ecc4bae"/>
  </p:sldMasterIdLst>
  <p:notesMasterIdLst>
    <p:notesMasterId xmlns:r="http://schemas.openxmlformats.org/officeDocument/2006/relationships" r:id="Recbe821550644b52"/>
  </p:notesMasterIdLst>
  <p:sldIdLst>
    <p:sldId xmlns:r="http://schemas.openxmlformats.org/officeDocument/2006/relationships" id="256" r:id="Ra21376b1d5d6447e"/>
    <p:sldId xmlns:r="http://schemas.openxmlformats.org/officeDocument/2006/relationships" id="257" r:id="R130911de9067408d"/>
    <p:sldId xmlns:r="http://schemas.openxmlformats.org/officeDocument/2006/relationships" id="258" r:id="Rae55dc4af25741b7"/>
    <p:sldId xmlns:r="http://schemas.openxmlformats.org/officeDocument/2006/relationships" id="259" r:id="Rd24a045245b64e26"/>
    <p:sldId xmlns:r="http://schemas.openxmlformats.org/officeDocument/2006/relationships" id="260" r:id="R4cc9318d6dfb43e3"/>
    <p:sldId xmlns:r="http://schemas.openxmlformats.org/officeDocument/2006/relationships" id="261" r:id="R9ca472b55dcb4c8a"/>
    <p:sldId xmlns:r="http://schemas.openxmlformats.org/officeDocument/2006/relationships" id="262" r:id="Rc8b59f3efe4647eb"/>
    <p:sldId xmlns:r="http://schemas.openxmlformats.org/officeDocument/2006/relationships" id="263" r:id="R80fe78716afc4e08"/>
    <p:sldId xmlns:r="http://schemas.openxmlformats.org/officeDocument/2006/relationships" id="264" r:id="Rc30c77a825cf45d4"/>
    <p:sldId xmlns:r="http://schemas.openxmlformats.org/officeDocument/2006/relationships" id="265" r:id="R779ad45a59ff4c11"/>
    <p:sldId xmlns:r="http://schemas.openxmlformats.org/officeDocument/2006/relationships" id="266" r:id="Rb5dfcbe0fae04b3a"/>
    <p:sldId xmlns:r="http://schemas.openxmlformats.org/officeDocument/2006/relationships" id="267" r:id="R9c43c03031de4f3c"/>
    <p:sldId xmlns:r="http://schemas.openxmlformats.org/officeDocument/2006/relationships" id="268" r:id="R1d3421eb76454862"/>
    <p:sldId xmlns:r="http://schemas.openxmlformats.org/officeDocument/2006/relationships" id="269" r:id="R879466b71b734800"/>
    <p:sldId xmlns:r="http://schemas.openxmlformats.org/officeDocument/2006/relationships" id="270" r:id="R7e7d4910e1e7402d"/>
    <p:sldId xmlns:r="http://schemas.openxmlformats.org/officeDocument/2006/relationships" id="271" r:id="Ra8cb7cfdc0374a8c"/>
    <p:sldId xmlns:r="http://schemas.openxmlformats.org/officeDocument/2006/relationships" id="272" r:id="Rdb1533e4d48e47dd"/>
    <p:sldId xmlns:r="http://schemas.openxmlformats.org/officeDocument/2006/relationships" id="273" r:id="R10060a888724444c"/>
    <p:sldId xmlns:r="http://schemas.openxmlformats.org/officeDocument/2006/relationships" id="274" r:id="R0471b260eb924a7e"/>
    <p:sldId xmlns:r="http://schemas.openxmlformats.org/officeDocument/2006/relationships" id="275" r:id="Rd8ff9275a0dd41d9"/>
    <p:sldId xmlns:r="http://schemas.openxmlformats.org/officeDocument/2006/relationships" id="276" r:id="Rf58ff0a3616f4c22"/>
    <p:sldId xmlns:r="http://schemas.openxmlformats.org/officeDocument/2006/relationships" id="277" r:id="R4083d6148eb84721"/>
    <p:sldId xmlns:r="http://schemas.openxmlformats.org/officeDocument/2006/relationships" id="278" r:id="R975e9451578c43cd"/>
    <p:sldId xmlns:r="http://schemas.openxmlformats.org/officeDocument/2006/relationships" id="279" r:id="R7140c0be0c994653"/>
    <p:sldId xmlns:r="http://schemas.openxmlformats.org/officeDocument/2006/relationships" id="280" r:id="Re3de8d5daef5487a"/>
    <p:sldId xmlns:r="http://schemas.openxmlformats.org/officeDocument/2006/relationships" id="281" r:id="Rd4e6fa67f4574397"/>
    <p:sldId xmlns:r="http://schemas.openxmlformats.org/officeDocument/2006/relationships" id="282" r:id="R04bef0646dc6431e"/>
    <p:sldId xmlns:r="http://schemas.openxmlformats.org/officeDocument/2006/relationships" id="283" r:id="R17f68036747542ea"/>
    <p:sldId xmlns:r="http://schemas.openxmlformats.org/officeDocument/2006/relationships" id="284" r:id="Rfaf28a240989454e"/>
    <p:sldId xmlns:r="http://schemas.openxmlformats.org/officeDocument/2006/relationships" id="285" r:id="R51baf37bdc7842fb"/>
    <p:sldId xmlns:r="http://schemas.openxmlformats.org/officeDocument/2006/relationships" id="286" r:id="Re53bbb0fbb2d4347"/>
    <p:sldId xmlns:r="http://schemas.openxmlformats.org/officeDocument/2006/relationships" id="287" r:id="R37840c8e4a014a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d0f228ecc4bae" /><Relationship Type="http://schemas.openxmlformats.org/officeDocument/2006/relationships/theme" Target="/ppt/theme/theme1.xml" Id="R30251fcbd7da4d78" /><Relationship Type="http://schemas.openxmlformats.org/officeDocument/2006/relationships/notesMaster" Target="/ppt/notesMasters/notesMaster1.xml" Id="Recbe821550644b52" /><Relationship Type="http://schemas.openxmlformats.org/officeDocument/2006/relationships/presProps" Target="/ppt/presProps.xml" Id="Ra4125f91081e4a74" /><Relationship Type="http://schemas.openxmlformats.org/officeDocument/2006/relationships/viewProps" Target="/ppt/viewProps.xml" Id="Rcce7e353be614571" /><Relationship Type="http://schemas.openxmlformats.org/officeDocument/2006/relationships/tableStyles" Target="/ppt/tableStyles.xml" Id="Racc15a489a444694" /><Relationship Type="http://schemas.openxmlformats.org/officeDocument/2006/relationships/slide" Target="/ppt/slides/slide1.xml" Id="Ra21376b1d5d6447e" /><Relationship Type="http://schemas.openxmlformats.org/officeDocument/2006/relationships/slide" Target="/ppt/slides/slide2.xml" Id="R130911de9067408d" /><Relationship Type="http://schemas.openxmlformats.org/officeDocument/2006/relationships/slide" Target="/ppt/slides/slide3.xml" Id="Rae55dc4af25741b7" /><Relationship Type="http://schemas.openxmlformats.org/officeDocument/2006/relationships/slide" Target="/ppt/slides/slide4.xml" Id="Rd24a045245b64e26" /><Relationship Type="http://schemas.openxmlformats.org/officeDocument/2006/relationships/slide" Target="/ppt/slides/slide5.xml" Id="R4cc9318d6dfb43e3" /><Relationship Type="http://schemas.openxmlformats.org/officeDocument/2006/relationships/slide" Target="/ppt/slides/slide6.xml" Id="R9ca472b55dcb4c8a" /><Relationship Type="http://schemas.openxmlformats.org/officeDocument/2006/relationships/slide" Target="/ppt/slides/slide7.xml" Id="Rc8b59f3efe4647eb" /><Relationship Type="http://schemas.openxmlformats.org/officeDocument/2006/relationships/slide" Target="/ppt/slides/slide8.xml" Id="R80fe78716afc4e08" /><Relationship Type="http://schemas.openxmlformats.org/officeDocument/2006/relationships/slide" Target="/ppt/slides/slide9.xml" Id="Rc30c77a825cf45d4" /><Relationship Type="http://schemas.openxmlformats.org/officeDocument/2006/relationships/slide" Target="/ppt/slides/slide10.xml" Id="R779ad45a59ff4c11" /><Relationship Type="http://schemas.openxmlformats.org/officeDocument/2006/relationships/slide" Target="/ppt/slides/slide11.xml" Id="Rb5dfcbe0fae04b3a" /><Relationship Type="http://schemas.openxmlformats.org/officeDocument/2006/relationships/slide" Target="/ppt/slides/slide12.xml" Id="R9c43c03031de4f3c" /><Relationship Type="http://schemas.openxmlformats.org/officeDocument/2006/relationships/slide" Target="/ppt/slides/slide13.xml" Id="R1d3421eb76454862" /><Relationship Type="http://schemas.openxmlformats.org/officeDocument/2006/relationships/slide" Target="/ppt/slides/slide14.xml" Id="R879466b71b734800" /><Relationship Type="http://schemas.openxmlformats.org/officeDocument/2006/relationships/slide" Target="/ppt/slides/slide15.xml" Id="R7e7d4910e1e7402d" /><Relationship Type="http://schemas.openxmlformats.org/officeDocument/2006/relationships/slide" Target="/ppt/slides/slide16.xml" Id="Ra8cb7cfdc0374a8c" /><Relationship Type="http://schemas.openxmlformats.org/officeDocument/2006/relationships/slide" Target="/ppt/slides/slide17.xml" Id="Rdb1533e4d48e47dd" /><Relationship Type="http://schemas.openxmlformats.org/officeDocument/2006/relationships/slide" Target="/ppt/slides/slide18.xml" Id="R10060a888724444c" /><Relationship Type="http://schemas.openxmlformats.org/officeDocument/2006/relationships/slide" Target="/ppt/slides/slide19.xml" Id="R0471b260eb924a7e" /><Relationship Type="http://schemas.openxmlformats.org/officeDocument/2006/relationships/slide" Target="/ppt/slides/slide20.xml" Id="Rd8ff9275a0dd41d9" /><Relationship Type="http://schemas.openxmlformats.org/officeDocument/2006/relationships/slide" Target="/ppt/slides/slide21.xml" Id="Rf58ff0a3616f4c22" /><Relationship Type="http://schemas.openxmlformats.org/officeDocument/2006/relationships/slide" Target="/ppt/slides/slide22.xml" Id="R4083d6148eb84721" /><Relationship Type="http://schemas.openxmlformats.org/officeDocument/2006/relationships/slide" Target="/ppt/slides/slide23.xml" Id="R975e9451578c43cd" /><Relationship Type="http://schemas.openxmlformats.org/officeDocument/2006/relationships/slide" Target="/ppt/slides/slide24.xml" Id="R7140c0be0c994653" /><Relationship Type="http://schemas.openxmlformats.org/officeDocument/2006/relationships/slide" Target="/ppt/slides/slide25.xml" Id="Re3de8d5daef5487a" /><Relationship Type="http://schemas.openxmlformats.org/officeDocument/2006/relationships/slide" Target="/ppt/slides/slide26.xml" Id="Rd4e6fa67f4574397" /><Relationship Type="http://schemas.openxmlformats.org/officeDocument/2006/relationships/slide" Target="/ppt/slides/slide27.xml" Id="R04bef0646dc6431e" /><Relationship Type="http://schemas.openxmlformats.org/officeDocument/2006/relationships/slide" Target="/ppt/slides/slide28.xml" Id="R17f68036747542ea" /><Relationship Type="http://schemas.openxmlformats.org/officeDocument/2006/relationships/slide" Target="/ppt/slides/slide29.xml" Id="Rfaf28a240989454e" /><Relationship Type="http://schemas.openxmlformats.org/officeDocument/2006/relationships/slide" Target="/ppt/slides/slide30.xml" Id="R51baf37bdc7842fb" /><Relationship Type="http://schemas.openxmlformats.org/officeDocument/2006/relationships/slide" Target="/ppt/slides/slide31.xml" Id="Re53bbb0fbb2d4347" /><Relationship Type="http://schemas.openxmlformats.org/officeDocument/2006/relationships/slide" Target="/ppt/slides/slide32.xml" Id="R37840c8e4a01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67a2c13ff2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8904db5744445" /><Relationship Type="http://schemas.openxmlformats.org/officeDocument/2006/relationships/notesMaster" Target="/ppt/notesMasters/notesMaster1.xml" Id="Rb90e3dafc0a14d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bea16dce34881" /><Relationship Type="http://schemas.openxmlformats.org/officeDocument/2006/relationships/notesMaster" Target="/ppt/notesMasters/notesMaster1.xml" Id="R04dfcb523f98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c8046f3ae24c14" /><Relationship Type="http://schemas.openxmlformats.org/officeDocument/2006/relationships/notesMaster" Target="/ppt/notesMasters/notesMaster1.xml" Id="R367b1cf82223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2d3f676ae04737" /><Relationship Type="http://schemas.openxmlformats.org/officeDocument/2006/relationships/notesMaster" Target="/ppt/notesMasters/notesMaster1.xml" Id="R93cc00d7bb7349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c1b87eb1d4eab" /><Relationship Type="http://schemas.openxmlformats.org/officeDocument/2006/relationships/notesMaster" Target="/ppt/notesMasters/notesMaster1.xml" Id="Rdee559906300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dc2fd4497b4ca2" /><Relationship Type="http://schemas.openxmlformats.org/officeDocument/2006/relationships/notesMaster" Target="/ppt/notesMasters/notesMaster1.xml" Id="R994933d8059b49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2ffcc1c0894023" /><Relationship Type="http://schemas.openxmlformats.org/officeDocument/2006/relationships/notesMaster" Target="/ppt/notesMasters/notesMaster1.xml" Id="Re5462c71e8f043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9f47817a2147ce" /><Relationship Type="http://schemas.openxmlformats.org/officeDocument/2006/relationships/notesMaster" Target="/ppt/notesMasters/notesMaster1.xml" Id="R7200e372c5444d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343431db5240dd" /><Relationship Type="http://schemas.openxmlformats.org/officeDocument/2006/relationships/notesMaster" Target="/ppt/notesMasters/notesMaster1.xml" Id="Rb3c918ed75904c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69c353c7854ac7" /><Relationship Type="http://schemas.openxmlformats.org/officeDocument/2006/relationships/notesMaster" Target="/ppt/notesMasters/notesMaster1.xml" Id="Rc3f979793a334f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191a94a8a64775" /><Relationship Type="http://schemas.openxmlformats.org/officeDocument/2006/relationships/notesMaster" Target="/ppt/notesMasters/notesMaster1.xml" Id="R14285c557ca34c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965ca499847a3" /><Relationship Type="http://schemas.openxmlformats.org/officeDocument/2006/relationships/notesMaster" Target="/ppt/notesMasters/notesMaster1.xml" Id="R9a733045da9341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27702880be401e" /><Relationship Type="http://schemas.openxmlformats.org/officeDocument/2006/relationships/notesMaster" Target="/ppt/notesMasters/notesMaster1.xml" Id="R58d75e0a8bab46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62631150504bb6" /><Relationship Type="http://schemas.openxmlformats.org/officeDocument/2006/relationships/notesMaster" Target="/ppt/notesMasters/notesMaster1.xml" Id="Rbdce0202263148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98386a84a94a79" /><Relationship Type="http://schemas.openxmlformats.org/officeDocument/2006/relationships/notesMaster" Target="/ppt/notesMasters/notesMaster1.xml" Id="R9400ae09847743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909d2e819c4bd2" /><Relationship Type="http://schemas.openxmlformats.org/officeDocument/2006/relationships/notesMaster" Target="/ppt/notesMasters/notesMaster1.xml" Id="R79cf9a1cb2ab482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e30bb883a54d79" /><Relationship Type="http://schemas.openxmlformats.org/officeDocument/2006/relationships/notesMaster" Target="/ppt/notesMasters/notesMaster1.xml" Id="R50232b18036043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6fa9466600417b" /><Relationship Type="http://schemas.openxmlformats.org/officeDocument/2006/relationships/notesMaster" Target="/ppt/notesMasters/notesMaster1.xml" Id="R51e6cebb0da345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5691ac94a5483f" /><Relationship Type="http://schemas.openxmlformats.org/officeDocument/2006/relationships/notesMaster" Target="/ppt/notesMasters/notesMaster1.xml" Id="Rcec5304f63084c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2e6fd1debc4ce8" /><Relationship Type="http://schemas.openxmlformats.org/officeDocument/2006/relationships/notesMaster" Target="/ppt/notesMasters/notesMaster1.xml" Id="R58d73d5ab80f48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f1daa1e66640ec" /><Relationship Type="http://schemas.openxmlformats.org/officeDocument/2006/relationships/notesMaster" Target="/ppt/notesMasters/notesMaster1.xml" Id="R565f42695b8e43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072f7f6829467c" /><Relationship Type="http://schemas.openxmlformats.org/officeDocument/2006/relationships/notesMaster" Target="/ppt/notesMasters/notesMaster1.xml" Id="R41ddf1aace2645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4d74ad4ef6493e" /><Relationship Type="http://schemas.openxmlformats.org/officeDocument/2006/relationships/notesMaster" Target="/ppt/notesMasters/notesMaster1.xml" Id="Rc08f2a7a7e2345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fe88d35fef49a1" /><Relationship Type="http://schemas.openxmlformats.org/officeDocument/2006/relationships/notesMaster" Target="/ppt/notesMasters/notesMaster1.xml" Id="Rd8da1cb9fee742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f6a128487e44e02" /><Relationship Type="http://schemas.openxmlformats.org/officeDocument/2006/relationships/notesMaster" Target="/ppt/notesMasters/notesMaster1.xml" Id="R3e9da3c92df44e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ec32083e3644b09" /><Relationship Type="http://schemas.openxmlformats.org/officeDocument/2006/relationships/notesMaster" Target="/ppt/notesMasters/notesMaster1.xml" Id="R8ccfade5b80a410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edaa44ae74448a" /><Relationship Type="http://schemas.openxmlformats.org/officeDocument/2006/relationships/notesMaster" Target="/ppt/notesMasters/notesMaster1.xml" Id="R1751348cc91043d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4d364027c934f8b" /><Relationship Type="http://schemas.openxmlformats.org/officeDocument/2006/relationships/notesMaster" Target="/ppt/notesMasters/notesMaster1.xml" Id="R476ae42aadd94c5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7169c6d5b174e9a" /><Relationship Type="http://schemas.openxmlformats.org/officeDocument/2006/relationships/notesMaster" Target="/ppt/notesMasters/notesMaster1.xml" Id="Rc751c8dfbd5b404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8a2d6d147d48c2" /><Relationship Type="http://schemas.openxmlformats.org/officeDocument/2006/relationships/notesMaster" Target="/ppt/notesMasters/notesMaster1.xml" Id="R92c0539658c0497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047e6e86c34ec0" /><Relationship Type="http://schemas.openxmlformats.org/officeDocument/2006/relationships/notesMaster" Target="/ppt/notesMasters/notesMaster1.xml" Id="R5a8a33dadafe428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a8d1a08cc9a49fc" /><Relationship Type="http://schemas.openxmlformats.org/officeDocument/2006/relationships/notesMaster" Target="/ppt/notesMasters/notesMaster1.xml" Id="R2c75736a66b4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349585f66451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00cd67556024001" /><Relationship Type="http://schemas.openxmlformats.org/officeDocument/2006/relationships/slideLayout" Target="/ppt/slideLayouts/slideLayout2.xml" Id="R4520ea08a0034b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20ea08a0034b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18b0d32fed447c" /><Relationship Type="http://schemas.openxmlformats.org/officeDocument/2006/relationships/notesSlide" Target="/ppt/notesSlides/notesSlide1.xml" Id="R39b97973ed5c48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63f4a6f244fe7" /><Relationship Type="http://schemas.openxmlformats.org/officeDocument/2006/relationships/notesSlide" Target="/ppt/notesSlides/notesSlide2.xml" Id="Rddfb7804c3d548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461e9a985416b" /><Relationship Type="http://schemas.openxmlformats.org/officeDocument/2006/relationships/notesSlide" Target="/ppt/notesSlides/notesSlide3.xml" Id="R5324065599fc47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00475f91cf4bbd" /><Relationship Type="http://schemas.openxmlformats.org/officeDocument/2006/relationships/notesSlide" Target="/ppt/notesSlides/notesSlide4.xml" Id="R93f0dcf3f5b44e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58e2ead66a4f73" /><Relationship Type="http://schemas.openxmlformats.org/officeDocument/2006/relationships/notesSlide" Target="/ppt/notesSlides/notesSlide5.xml" Id="R7b1c23d547c241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c18ddb0e845aa" /><Relationship Type="http://schemas.openxmlformats.org/officeDocument/2006/relationships/notesSlide" Target="/ppt/notesSlides/notesSlide6.xml" Id="Ra9a3aeca2d6d40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d72fa52bf24d7e" /><Relationship Type="http://schemas.openxmlformats.org/officeDocument/2006/relationships/notesSlide" Target="/ppt/notesSlides/notesSlide7.xml" Id="Recb5efbe5d83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09a5791a8b491c" /><Relationship Type="http://schemas.openxmlformats.org/officeDocument/2006/relationships/notesSlide" Target="/ppt/notesSlides/notesSlide8.xml" Id="Rb1b403908c9446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4403aa6fa45d6" /><Relationship Type="http://schemas.openxmlformats.org/officeDocument/2006/relationships/notesSlide" Target="/ppt/notesSlides/notesSlide9.xml" Id="R36046f74188e45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e108e141424aa4" /><Relationship Type="http://schemas.openxmlformats.org/officeDocument/2006/relationships/notesSlide" Target="/ppt/notesSlides/notesSlide10.xml" Id="R71ae22cf16d147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e7503c8f746b1" /><Relationship Type="http://schemas.openxmlformats.org/officeDocument/2006/relationships/notesSlide" Target="/ppt/notesSlides/notesSlide11.xml" Id="R422c4564a94745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1f6b723f24b05" /><Relationship Type="http://schemas.openxmlformats.org/officeDocument/2006/relationships/notesSlide" Target="/ppt/notesSlides/notesSlide12.xml" Id="Rbb97ce027d994f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ca05dc08f84f24" /><Relationship Type="http://schemas.openxmlformats.org/officeDocument/2006/relationships/notesSlide" Target="/ppt/notesSlides/notesSlide13.xml" Id="R276fca510a9146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1281c6e474e21" /><Relationship Type="http://schemas.openxmlformats.org/officeDocument/2006/relationships/notesSlide" Target="/ppt/notesSlides/notesSlide14.xml" Id="R93d69aac111348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acc7b23fe34732" /><Relationship Type="http://schemas.openxmlformats.org/officeDocument/2006/relationships/notesSlide" Target="/ppt/notesSlides/notesSlide15.xml" Id="Rb6b0c678324b46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956a48cece4151" /><Relationship Type="http://schemas.openxmlformats.org/officeDocument/2006/relationships/notesSlide" Target="/ppt/notesSlides/notesSlide16.xml" Id="R6a3d42ae7b3e41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78ff147b6f4c44" /><Relationship Type="http://schemas.openxmlformats.org/officeDocument/2006/relationships/notesSlide" Target="/ppt/notesSlides/notesSlide17.xml" Id="R8f71a862335b4b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1bce7ac8245b2" /><Relationship Type="http://schemas.openxmlformats.org/officeDocument/2006/relationships/notesSlide" Target="/ppt/notesSlides/notesSlide18.xml" Id="Rbe9dcd09533042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0b12493db479c" /><Relationship Type="http://schemas.openxmlformats.org/officeDocument/2006/relationships/notesSlide" Target="/ppt/notesSlides/notesSlide19.xml" Id="R5af42895eb204f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8c43f526164704" /><Relationship Type="http://schemas.openxmlformats.org/officeDocument/2006/relationships/notesSlide" Target="/ppt/notesSlides/notesSlide20.xml" Id="Rb41fb69345634c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f6776250d4c9b" /><Relationship Type="http://schemas.openxmlformats.org/officeDocument/2006/relationships/notesSlide" Target="/ppt/notesSlides/notesSlide21.xml" Id="R488d29de5d684ba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26cb4cbb3849c8" /><Relationship Type="http://schemas.openxmlformats.org/officeDocument/2006/relationships/notesSlide" Target="/ppt/notesSlides/notesSlide22.xml" Id="R8a93d8324c744c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77b67004304141" /><Relationship Type="http://schemas.openxmlformats.org/officeDocument/2006/relationships/notesSlide" Target="/ppt/notesSlides/notesSlide23.xml" Id="R4923aae65b0343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632841fd6842b6" /><Relationship Type="http://schemas.openxmlformats.org/officeDocument/2006/relationships/notesSlide" Target="/ppt/notesSlides/notesSlide24.xml" Id="R82751c4095c144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073df60dd342f1" /><Relationship Type="http://schemas.openxmlformats.org/officeDocument/2006/relationships/notesSlide" Target="/ppt/notesSlides/notesSlide25.xml" Id="Rccb90deb4f7349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ca053e8b843f7" /><Relationship Type="http://schemas.openxmlformats.org/officeDocument/2006/relationships/notesSlide" Target="/ppt/notesSlides/notesSlide26.xml" Id="R30def72a80ae4d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bc7784a4fb415b" /><Relationship Type="http://schemas.openxmlformats.org/officeDocument/2006/relationships/notesSlide" Target="/ppt/notesSlides/notesSlide27.xml" Id="R5dc4de012aca47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2eab915fa4573" /><Relationship Type="http://schemas.openxmlformats.org/officeDocument/2006/relationships/notesSlide" Target="/ppt/notesSlides/notesSlide28.xml" Id="Rf484c9706b6446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73b78b03d64041" /><Relationship Type="http://schemas.openxmlformats.org/officeDocument/2006/relationships/notesSlide" Target="/ppt/notesSlides/notesSlide29.xml" Id="Rbb9f8ff974dc40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2af9c579bf4c2e" /><Relationship Type="http://schemas.openxmlformats.org/officeDocument/2006/relationships/notesSlide" Target="/ppt/notesSlides/notesSlide30.xml" Id="R43da4f22157c4be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5f7de3080c4543" /><Relationship Type="http://schemas.openxmlformats.org/officeDocument/2006/relationships/notesSlide" Target="/ppt/notesSlides/notesSlide31.xml" Id="R7829a7e8d4e743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e1d2e38117474e" /><Relationship Type="http://schemas.openxmlformats.org/officeDocument/2006/relationships/notesSlide" Target="/ppt/notesSlides/notesSlide32.xml" Id="Raa32e5900fa54df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9E9B5-5968-40BB-8E14-CAF4D8D5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693FC-6B28-4B9B-9310-601EF499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4F6CE-9344-44FB-82DB-A4529BD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Internal Engineering Share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5C18-BB5B-4703-98FB-3C5AF56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19200"/>
            <a:ext cx="590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9E74A-10E4-41BC-9A37-8FA2429D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Vibe Coding에서 Harness Engineering까지: Spring Boot MSA Template에서 검증한 AI 개발 운영 체계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F178A-602E-4DA0-9B55-1E055815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A31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0431E-F146-4902-AE28-9C2D2951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954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VIBE</a:t>
            </a:r>
          </a:p>
          <a:p xmlns:a="http://schemas.openxmlformats.org/drawingml/2006/main">
            <a:pPr algn="ctr">
              <a:defRPr sz="97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7DD1D-8FF2-41FA-9CD6-F86CC681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4300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17F56-7A30-49B0-B155-8F7513D5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954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PROMPT</a:t>
            </a:r>
          </a:p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32B1C-1152-4D85-A69B-FFA3AD1E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4300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91E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EB807-6AFA-4DA8-BA7D-7FA12173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954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ENG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4344F-0C7D-47CC-9A5E-92C03383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41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FCF26-157B-42FB-B51B-58941D2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384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HARNESS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ENG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08A8C-05BC-4592-8787-D3B9A3FE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382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209EF-D96F-4CFB-853F-08C49A2F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3906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2702C-CA1F-49CB-9A7F-2AF9556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382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15044-EA64-4CCF-A6B2-162DEB89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3906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258AD-DE68-4668-80F4-9DD4174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BD5D8-6953-48E7-B0EC-67BDA321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479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DA3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C775C-5C1B-48BB-80F2-288FA2D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Document version v1.1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C91CA-2222-4F30-BEE0-06E12388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작성자 박경서 &lt;Kyungseo.Park@gmail.com&gt;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7C7C0-47AC-4A0F-9E14-BA6567B2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02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작성일자 2026-05-16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05EF3-B8B0-4FDB-BC81-014D638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198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github.com/kyungseo/base-msa-template</a:t>
            </a:r>
          </a:p>
        </p:txBody>
      </p:sp>
    </p:spTree>
    <p:extLst>
      <p:ext uri="{BB962C8B-B14F-4D97-AF65-F5344CB8AC3E}">
        <p14:creationId xmlns:p14="http://schemas.microsoft.com/office/powerpoint/2010/main" val="1250397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9B4AE-2D60-4EA0-A9A9-1840922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E74EE-0C90-4E42-B9C3-CA43BA6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30-Minute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E0D17-17FF-48BD-8F36-FC7C694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DFAB0-204C-432B-83D2-57AC585C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오늘의 전개는 개념에서 운영 매뉴얼까지 이어진다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C3132-A2F5-43CA-98AD-60C5E402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개념 소개 → 프로젝트 검증 베드 → Harness v1 구조 → 사용법 → 한계와 v2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93AFB-356F-4B95-90DE-1657BB6D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648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D40A3-9B03-4D1A-A314-1AC00406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2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3A83B-8A12-438B-8A9C-C633933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930B4-008A-4FF8-895C-242F176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527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46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4F46E5"/>
                </a:solidFill>
                <a:latin typeface="Apple SD Gothic Neo"/>
                <a:ea typeface="Apple SD Gothic Neo"/>
                <a:cs typeface="Apple SD Gothic Neo"/>
              </a:rPr>
              <a:t>AI 협업 방법론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6F0BD-5BCE-4AFC-930B-1E1E148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384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Vibe Coding → Prompt → Context → Harness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7AD05-4612-4D46-A9E2-3CB5B2A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4648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9A7AD-0665-4324-A897-12DFC4B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72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735A8-C729-4CFB-9032-5DB803A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032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7D39F-0E03-493A-B6FE-49DDBB4F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프로젝트 개요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404BD-3E65-4F3B-9E67-30523515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Spring Boot MSA template + AI workflow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F4807-DBC3-4A18-83C8-9F4FB97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4648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C6E70-F94D-41F5-91D3-0524582B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72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1F066-E8F4-4BCF-BBF6-F1C4B72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C26B7-ADA8-447E-82F8-221E32EA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왜 Harness v1인가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2A011-97D6-43A8-AC46-05202FA0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624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세션 drift, 승인, 결정, 검증 문제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08B9A-07E8-4539-9CB5-601BFC19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4648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DFE65-7CAD-4842-B45E-3CF74D11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5200"/>
            <a:ext cx="72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59C40-4FEC-4489-B94A-9F99CA67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42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DE81B-F5FC-41AB-B479-2A135CC6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구조 소개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4562CD-2AC6-412C-86A4-463DA638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624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상태 머신, 문서 생태계, tool alignment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D3EE6-CEB4-482E-85D1-0BD50F22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648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74190-0CB0-448C-AB96-9C332847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72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B25E9-6285-4DD6-9ECB-F12AE55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B9702-16FC-470C-8D23-620377B2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사용법 / 매뉴얼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08842-C220-4EEA-84F7-DB0EA89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863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slash command, daily flow, scaffolding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C7E02-82CF-489D-A650-D906A97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4648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6D2D8-9A0E-4884-AD82-CC4D408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72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C0DE6-5B63-45CA-96DB-5950ACD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4822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70B43C-2174-4803-92A5-073942A0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006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v2 방향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1A715C-53F9-473D-A522-760F34B2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863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선택적 자동화와 health intelligence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48FB16-FC99-4A2F-8EA5-8E29489D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171B85-9663-46B4-A803-1514702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8D0B2C-3252-424D-9E46-EDCCD5F3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1572488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C3925-54E4-46BD-AC4F-3457675C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9C7B8-9DA7-45E9-8C3F-71B5F84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D794C-005A-4249-8908-395F6EB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355ED-2888-4617-9553-222EC1B3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Collaboration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B0DDD-634B-4B45-8F95-223B4077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Vibe Coding을 실무에서 지속 가능하게 만드는 세 가지 engineering 관점을 정리한다.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840E8-19EF-4D4E-8ED5-BB3DC86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F5574-AF0D-4911-938D-52547855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30 min internal engineering share</a:t>
            </a:r>
          </a:p>
        </p:txBody>
      </p:sp>
    </p:spTree>
    <p:extLst>
      <p:ext uri="{BB962C8B-B14F-4D97-AF65-F5344CB8AC3E}">
        <p14:creationId xmlns:p14="http://schemas.microsoft.com/office/powerpoint/2010/main" val="329944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78F43-D325-4195-9FE9-0FA8130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4EE67-39B3-43C5-9232-2A0AC8DC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F5BC-388E-4DBA-A5A6-4878E68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4BB83-1A67-4D0B-BB95-66E115EE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Vibe Coding은 상위 작업 방식이고, 세 engineering은 이를 지탱하는 운영 레이어다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AB8BF-E966-43E6-8945-515076FC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Prompt, Context, Harness는 순차 단계가 아니라 함께 작동하는 설계 관점이다.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34CC1-4BAA-4A89-98DF-BDDB3BC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24B37-FE54-4EEB-A5C5-3688C78E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35984-72D1-405D-A82E-01CD05A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Vibe Coding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B72F2-E43C-4536-9B37-7BFB4071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상위 작업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73734-4B5D-4844-99CD-4E67446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아이디어를 자연어로 빠르게 구현하며 세 레이어의 도움을 받음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DF4B8-60D0-42BE-9195-1145E754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05175"/>
            <a:ext cx="5143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8C9BB-246F-45BB-A798-B169C9C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57550"/>
            <a:ext cx="95250" cy="114300"/>
          </a:xfrm>
          <a:prstGeom xmlns:a="http://schemas.openxmlformats.org/drawingml/2006/main" prst="triangle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7733E-63DF-49D6-B14D-11A246F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21717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436BA-891C-4071-8859-12F9C48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43E48-5239-464D-A37D-88EE77E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F6ACD-D9B7-49CD-9297-D6B26FFD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요청 품질 설계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0BDB9-3711-473B-BC29-A9EDA254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무엇을 어떻게 요청할지 정한다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8944F-C678-4E1D-8B74-AED77DC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52775"/>
            <a:ext cx="5143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2988F-90CA-4065-A053-013F823A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05150"/>
            <a:ext cx="95250" cy="114300"/>
          </a:xfrm>
          <a:prstGeom xmlns:a="http://schemas.openxmlformats.org/drawingml/2006/main" prst="triangle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66031-DF9C-4DA1-9653-1F21E2E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171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49357-4B72-4726-8FEC-8F81F1BC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297AC-739D-41F3-83E3-8D3B7420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Context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FBA52-8930-464B-9E50-5B3D72C2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맥락과 기준점 설계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89B04-424C-43AD-AFF5-1C8C20EA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무엇을 읽고 기억할지 정한다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F06ED-2A68-448B-8E34-B915D3D5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5143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8DB02-3C87-4624-BAF6-E65D0BE4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95250" cy="114300"/>
          </a:xfrm>
          <a:prstGeom xmlns:a="http://schemas.openxmlformats.org/drawingml/2006/main" prst="triangle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D8AA4-1787-4E2F-8DFD-0888E42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717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E45A7-F9FF-4F62-963D-251AE6E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3B6F0-62CB-4C1E-85A1-2AF288D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431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DA84B-E0AE-4B47-AC69-BBD01A49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운영 절차와 gate 설계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969B35-FC47-440E-8480-49D98D5C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언제 승인·검증·복구할지 정한다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DF20A7-CDF3-43EF-A15B-31D7BE7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00EF4-31B5-4C6F-BEE3-06422660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57D7AA-732C-4837-9757-9DF1EFB8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911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오늘의 초점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EEBEB9-11AC-43C5-860D-6E7576F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781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Harness Engineering은 Prompt와 Context를 버리는 것이 아니라, 둘을 운영 가능한 절차와 검증 게이트 안에 넣는 일이다.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5ACD0D-6B9F-4616-8A5E-F17E738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88DD46-EF48-4251-AF47-69301CC7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A43CC5-CE6C-4355-B2B1-139892B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4729233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5372D-6CB2-431A-94A9-D9F5B24E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D75CD-874C-4E88-AD6E-78A6770B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Vibe 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B3AD8-F5D1-4C0B-9C61-3CFFABD0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14C9B-85D2-42BB-9D0D-BA089E7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자연어 의도로 빠르게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0F64B-45DA-4043-B283-A66F0D97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프로토타입에는 강하지만 팀 운영과 검증에는 구조가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F380E-C8F7-4CA8-96AA-A14B7D9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648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79705-62EE-4EC5-8B51-8F94F8FA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38700-2D3C-46B1-ADE4-D1C7EBF8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좋은 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0CF2E-8D46-49F6-9C9A-563BB887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아이디어를 즉시 runnable prototype으로 전환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비개발자도 구현 탐색에 참여 가능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초안·실험·throwaway prototype에 강함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8442D-D94D-47D5-B437-28E678AA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648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CFF16-B24D-4E2B-A639-7BD399F8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586BE-EBDB-46BE-827E-685FFAB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C4A84-FE91-4E0D-BAF3-C3A257A5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코드 품질·보안·테스트 gate가 약함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변경 범위가 쉽게 번짐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팀 협업과 재개 가능한 이력이 부족함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B2A7A-BE09-4488-998C-0C6F358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87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5F154-8303-4123-8710-574910B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7B256-E250-4805-B324-A8E2BC0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Vibe Coding은 시작점이다. 운영 단계로 가려면 prompt, context, harness가 차례로 필요하다.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1F56B-FC12-45F1-857F-3A75AC9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D69CC-A62F-44CC-93E4-3F2A8E6A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791A8-DF89-4E2C-A865-EC73CE2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725277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56093-15B5-4130-A51B-29908755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FECD1-45AA-4E60-ADD4-7D98517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Prompt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89091-7004-4C4D-9E6C-00CC38D5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4D5C-1A4D-495A-B74E-D253A16C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단발 요청의 품질을 제어한다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CF4BA-D1AC-44BD-B508-799DCD8D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역할, 형식, 예시, 제약을 설계해 더 좋은 출력을 얻는다.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983C9-B834-43E7-BB64-F898084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648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CF057-1E42-43BB-A69A-9D2F9D79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81C1D-F9D6-45FA-BF47-3F801A88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핵심 기법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46988-55D8-45B6-AA73-5EA2A61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역할과 audience 지정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출력 형식과 acceptance criteria 명시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예시, 반례, 제약 조건 제공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B4FB5-A65E-4EC2-B9CF-6A108C4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648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088FF-B311-42A3-8F2D-149C448D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14B8A-DC9C-48B2-8960-2B5C0B2E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이 프로젝트의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6E5B8-B62B-48B3-91D6-F8423F7B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`.claude/commands/*.md`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`prompts/00~22` task prompt library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`/doc`, `/work`, `/done` 같은 절차화된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B1819-916B-4DFE-AAA7-58633710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87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F6415-3CCA-4ECE-BF73-3451DC74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F849F-DD67-4CBE-BBCD-2F8EBDEE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Prompt Engineering은 단발 품질을 높인다. 하지만 세션을 넘어 이어지는 기준점은 별도 설계해야 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3A993-6F71-46F2-BCA4-7CE77CF8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C073E-8C63-433F-8AEB-06D3FDFD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DBD2E-BBB9-4DF7-8CEB-F5A149A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4937002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36FBC-B238-4966-AB6F-486FAA1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FC246-9199-4454-95D0-B2261F6A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Context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D4B49-8BF4-4B98-84C8-32D83177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14B6B-98B2-4B95-9EB8-EF84916D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세션 전체의 기억과 기준점을 설계한다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8AE66-5B70-46DC-A3B2-63F34B55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STATUS, architecture summary, backlog, DR이 반복 세션의 기반이 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77E2A-AC65-4855-82C2-51A1222C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648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E0130-22E0-4C54-B8F5-D6D5CA94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F07AF-43D5-4CF7-81D0-302416B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핵심 기법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E1C26-E525-4DE6-BD6C-FF0E966B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STATUS.md를 현재 상태 live board로 유지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필요 문서만 조건부 로드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DR과 archive로 결정·과거 이력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80821-457A-4E58-B5FA-EFF2081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648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26C2F-B09F-4DA7-A9D9-FF28ED32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8F65B-57B9-408D-AD38-529DBAA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이 프로젝트의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91CE0-5F95-4D35-9C0E-B39F0E77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267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`docs/STATUS.md` current sections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`docs/PLAN-SUMMARY.md` architecture summary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- `docs/backlog/PHASE{n}.md`, `HARNESS.md`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F80DC-0AD8-432C-A0C3-4BF64A6F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87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F8EFA-A9A4-4C94-8F0E-14108B1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40891-A2A7-44AE-BEDB-5A7B1DE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Context Engineering은 기억을 만드는 일이 아니라, 무엇을 언제 읽을지 정하는 일이다.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92E4F-C6CC-4660-9993-2894FCE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96685-87A8-4CAD-BDB9-48FBA4AE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2CEA1-4EF7-4B41-9391-5A7E20DD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8640100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A61A3-1306-40C3-BE66-70EB460C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2A3F1-0F06-414F-A3AA-7A90ED97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EC819-0A4A-43FC-8AFC-D41A96AA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21DBC-1098-4B05-9796-7EE7303B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AI 협업을 운영 가능한 체계로 묶는다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87779-23F9-4683-A74E-7E71221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Prompt + Context + Workflow Guardrails가 합쳐질 때 반복 가능한 팀 프로세스가 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E5914-E975-417D-8813-A06EDA45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686DD-DDE5-42A0-93CC-D6CB66A2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Prompt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D57D4-DDFA-4E8E-B518-1B955BC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개별 요청 품질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6936F-BDFB-4A23-ABA1-ED03A6C2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42525-514D-4A84-9A21-43BEA86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F9F77-3AFE-4580-B320-7A30B7BD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16A49-99AD-417C-B3BE-7FB4C2F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세션 기준점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84A8C-FFC8-4383-AA65-F84EF2C0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68776-CF18-4931-8E13-76791AA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7F10E-EA57-4230-9405-D8FCFA52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  <a:p xmlns:a="http://schemas.openxmlformats.org/drawingml/2006/main">
            <a:pPr algn="ctr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Guardrails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38654-8769-424C-B210-63F7A1D9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승인·검증·복구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7269A-73FA-48E2-ACD1-FD05762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434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2B488E-D0ED-49D1-B9AB-0ED02A97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3434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52B0C-4913-4E79-97EE-C4E27FD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101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6746C-1DFC-46E7-8063-3400ECF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7576E-2E8F-4B24-82E9-6FA94EBB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292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Harness v1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Manual-first operating protocol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1C15E-A026-486E-B6FD-1EF08B1D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02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Plan → Approval → Execute → Validate · STATUS Update Proposal · Risk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5F5EF-FC47-4B3D-88F3-F277E35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CAB18-1E21-44CE-965A-2924540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58EF7-0DEB-4380-B1D2-8E12BA8F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9258734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4334C-133D-4D9E-BC1B-FA59FD90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C4287-2382-44E9-BDFB-83C1AC5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0077B-D5CA-412C-872A-FB8BB62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FAB31-B94F-48A9-B793-CBDE3CCB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6E9B1-0A8A-497E-8658-503B18CA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base-msa-template은 AI workflow harness와 Spring Boot MSA template을 동시에 검증한다.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3F853-9F0E-41CE-AC48-E42EBD9A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B0EC2-D346-400E-B642-2DAD9D21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30 min internal engineering share</a:t>
            </a:r>
          </a:p>
        </p:txBody>
      </p:sp>
    </p:spTree>
    <p:extLst>
      <p:ext uri="{BB962C8B-B14F-4D97-AF65-F5344CB8AC3E}">
        <p14:creationId xmlns:p14="http://schemas.microsoft.com/office/powerpoint/2010/main" val="1316009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41559-BB48-44CC-91BE-14672B2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98238-0042-4D97-9F47-0AF4625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Project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7D266-0807-4C13-8D14-AE044E26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48187-07D6-45E8-B60A-B15B9B78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이 프로젝트는 두 개의 축을 동시에 검증한다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09A0E-6427-4021-9752-9711D4C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AI workflow는 실제 개발 대상 위에서만 의미 있게 검증된다.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0A700-132A-43FC-A800-60B4E79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57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C643A-690D-44B8-8E84-AF955B7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6E887-E814-4499-822A-2FA1E863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Axis A. AI Workflow 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332A6-F81B-4A2D-9414-B98122A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반복 세션, 승인 게이트, 상태 복구, 도구 간 정합성을 다루는 운영 체계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A588A-9562-43C3-B63D-A1F50671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57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1B9A5-3DFA-46B4-90F5-ECE3933D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82D92-E9A7-4B38-B54A-F26DA71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Axis B. Spring Boot MSA Template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CA3ED-73A6-40EC-B369-6694E97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419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Gateway, auth/user/todo service, Redis, PostgreSQL, CI/Testcontainers를 갖춘 실제 검증 베드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AE00A-FFCB-400E-8C56-A41EE4F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38450"/>
            <a:ext cx="106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C9BD9-C55E-4A73-BB63-9D804D0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루프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B022E-1296-43A7-9719-6899FB66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289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668D6-F60D-44CE-B31C-A656998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81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62842-A667-4B08-9A05-B88E74FF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289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D9E00-B12E-4BF4-8D51-1F463F5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81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6E169-8CDA-4E23-92F2-DA47C1E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14850"/>
            <a:ext cx="739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Workflow가 실제 repo에서 흔들리는 지점을 발견하고,</a:t>
            </a:r>
          </a:p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MSA template은 AI 작업이 안전하게 반복되는지 검증한다.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8D4B4-286A-4B54-A069-8953B558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99239-CC35-4632-9616-EF4D006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AA19A-21BF-401B-B161-9F018F74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2754266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2D4F9-F28D-4E87-A0C0-195A35EE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DD3DD-B5DD-443F-95A1-7CDAD303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Verification Bed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03297-66C1-45DB-B2DB-770B9AB9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99520-928B-41A3-BB39-AD67928E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검증 베드는 Spring Boot 3.5 기반 MSA 구조다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7024E-4D6C-4C53-85CA-D161D038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Gateway, 서비스, 공통 모듈, PostgreSQL, Redis, CI/Testcontainers가 실제 작업 표면을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3E4B-9AC7-4C73-9E26-988D3D2A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0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A44C-B634-43FE-9956-2CC1DC15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Vanilla 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577CF-653B-45FB-9F43-B65CEFA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2BB21-218C-4E86-A5DB-7AEE6722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2897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API Gateway</a:t>
            </a:r>
          </a:p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Spring 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6D8C3-506E-4B3B-9761-4A48231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D06F8-F503-41F3-BE6E-F619024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auth-service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JWT rotation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64303-EE29-4998-A042-FAE372BB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575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BB4A5-D803-415C-9FA0-BCF3F121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385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user-service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CRUD / RBAC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8B317-26DA-4D2C-98C1-89F53D4F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100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5271B-65A5-4547-9473-A625117F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91025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todo-service</a:t>
            </a:r>
          </a:p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sample CRUD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5DC88-1DE9-4A31-97A5-B3B0A83E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26413-2614-405F-9E2E-71A863AD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6227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PostgreSQL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D9E3A-A181-41FE-AAE1-3F12ED7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3723A-EAAE-4A82-A59A-1B936C61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0527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RT · blacklist ·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8FBF1-9FCE-468B-A5B1-556B706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909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86594-C6FC-4716-9E96-8925B92A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432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10147-CDE2-42D8-92C2-A0E963F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7555C-45F4-476A-BBFA-6E7F8020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432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FD339-C059-458C-BE1B-3369D052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09F38-CA0D-417D-A1B1-CB979A2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57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BE60E-647D-40E3-B588-605B41FE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4815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73F06-26FC-4565-A320-1415D77C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3A114-1B61-4918-985A-8017E536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918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103FF-B788-43D3-A1EF-AD20590E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54896-A249-4FBA-8A59-6E9679BE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880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Verification surface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678161-4522-4377-9E9A-852BCC9A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880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Testcontainers · Checkstyle · GitHub Actions CI · Docker Compose local runtime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1155F9-765E-4FC0-9873-8B55BE22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C2E96-92D8-4E8E-A4B5-EE94AF63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883E6-1AC6-40DD-A7C5-BB6BED60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4094293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26743-2DCE-453A-A42F-165C7C35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09BCE-3D85-46B3-94D9-7140A839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Repository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C35C0-9067-4843-92F4-7977099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0499C-55A7-418C-997D-2A5CBA4B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코드와 하네스가 같은 repo 안에서 함께 진화한다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18E51-3694-4C7D-AD89-AEC1736A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product code, infra, docs, prompts, tool rules가 하나의 작업 표면을 구성한다.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AFDDF-047A-4C25-8732-118542C6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BC7E7-F8AF-4A02-AE8F-0ABF763C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D75F0-6FFB-4EA7-8BB4-F3F16A98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gateway/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1C34B-5CA9-4BA7-8B08-97A822C8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api-gateway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17D6D-4039-4F56-A347-85C97D3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77C41-4B93-485F-B475-8E7DF712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2EBB7-2749-43AA-B2DE-15B01175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services/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3EE6B-F3F0-47A9-A2DF-03823FB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auth · user · todo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83A37-DEE9-48BB-8AA1-48A959BD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420B6-7791-4F0C-9DE7-B0C9EB6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B9EA0-6037-4D9C-89C0-7B5162A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common/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74829-89B2-4135-BCBE-61BA54F4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common-core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75776-8975-4B37-9E0B-1645A6F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AC7BB-E754-4054-9882-506766B1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541B7-34FE-48BC-AE32-F9D9523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infra/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5C245-FCBB-4BFE-AA9E-BDE815B1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docker · k8s · metrics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CF489-C45C-43C7-92BF-15239F2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BA880-22F6-4262-AE34-77FBE174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EEED-1D66-40C7-9B36-A3829A3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ADEC9-0F95-4A8B-8E28-AECA549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architecture · guide · harness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EBF34-A3C5-4365-95F4-533E474E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7776D-B8BD-45BF-A739-6530EA6D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028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00D7B-EF53-4913-A14D-C7B94759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.claude · .cursor · prompts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C70EC-1EAA-4CAC-AA0B-9A018481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tool-specific AI surface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E9862B-3731-4214-A8D3-29028F38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19700"/>
            <a:ext cx="426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29DAB-67F4-4B95-8F11-29620093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86375"/>
            <a:ext cx="403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Private now · Public after maturity and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03B1A-14D4-47B9-BB71-1E382846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3BDB5A-108E-42C0-BB81-AA675FF0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C94A5F-BD46-4A0A-85FF-3B48F13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6689561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01E1C-6963-4F69-AB91-74077709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899B0-3871-4494-98A0-A0B0FB2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6824C-A2B9-4CAE-AF23-2A08FB10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02F2-5F2F-4342-9AE7-5C60539E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Why Harness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0F8DD-8441-44F7-B0F5-EEBC6C0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문제는 AI가 코드를 못 짜는 것이 아니라 세션 운영이 흔들리는 것이다.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C36E9-BCE2-4D97-B646-2DDB63B4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6F6F9-3AC1-4F9C-AB14-6DA05A43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30 min internal engineering share</a:t>
            </a:r>
          </a:p>
        </p:txBody>
      </p:sp>
    </p:spTree>
    <p:extLst>
      <p:ext uri="{BB962C8B-B14F-4D97-AF65-F5344CB8AC3E}">
        <p14:creationId xmlns:p14="http://schemas.microsoft.com/office/powerpoint/2010/main" val="1873210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A7929-DEE5-4AF4-BB02-B181B44C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2756B-159D-49EA-9DA0-9F667CFA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Observed Friction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B5D91-7E23-4F2B-B021-3DADCD30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95471-E3EF-4CD3-95AF-F266D41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AI coding은 코드보다 세션 운영에서 먼저 흔들린다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9DE94-BC13-4E6B-8A68-F29FBA8A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반복 세션에서 상태, 승인, 결정, 검증이 흩어지면 좋은 코드도 이어서 만들기 어렵다.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34BB9-816D-4191-8BDB-42CAF4F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08C3D-7A80-4FB5-8E78-E095EA6A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991FD-6A57-44E2-8923-0287E9D4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Context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CA9C-8BFA-4B99-BD76-D55110F3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세션마다 같은 설명 반복, 오래된 문맥 재사용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9F17E-20C6-4306-BB7F-44218F6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640F1-CC60-4472-B416-EC7599F9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8D923-7AE4-45EC-B3FE-BCA097AD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76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Scope creep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B68C6-4271-4515-9731-0C9F6BB8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승인 없이 넓은 변경 또는 refactor가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7CBC4-5AFC-4FCF-A700-63EAEFF8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195C9-76CE-46CC-A16F-1C521CD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EEF61-5DE3-4527-8189-782DCB0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State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7E5C9-689A-4235-9FC5-E3C78DF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1955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중단 후 재개 시 실제 파일과 STATUS가 어긋남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A28FC-C11A-4290-80AB-9EA5697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36396-F71E-4ED4-ADCC-8C57701A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CD793-0B09-47E5-B3DD-24A88D67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Decision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EA265-E7A7-4D66-A107-163BF66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6250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왜 그렇게 했는지가 PR·commit 밖으로 사라짐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8D5CF-215E-4487-B0CC-E0AE8082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007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v1의 관심사는 “AI가 똑똑한가”보다</a:t>
            </a:r>
          </a:p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“AI와 사람이 같은 상태에서 다시 시작할 수 있는가”에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18664-FC20-4757-81E3-DE657079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98CC3-8AD3-43AD-B678-004E2E8E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F749C-2AAF-4275-A339-6713D301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1427388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8F0DC-7912-49E7-8BD1-00540AD4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B0EC5-AC8A-432C-8954-92147381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Evolution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B1A9E-8FFE-4735-BE8D-1276DEBA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8F256-2364-4054-A9F2-D76FC514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v1은 문서 정리가 아니라 운영 모델 재편의 결과다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25D2F-454E-452C-97EB-DA10CD61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Phase 1 구현 후 혼재된 상태를 백업하고, 현재 중심 live board와 하네스 프로토콜로 재구성했다.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14BE5-F771-436E-A2BF-8F2BBF3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5EBD6-97F9-4225-9A15-6B29D6D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443F4-7423-4E4A-B776-4C6A2FA3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MSA scaffold 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AFE1F-8B90-4377-AC4B-C2A8F99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57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72829-5558-4D2F-AACC-A67D3245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99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58F08-DCA9-42F5-9431-BECB984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C65AE-97C6-4445-A94E-5B3F7091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1467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0A887-E63F-40EE-B54B-B9FEFC64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상태·backlog·DR 혼재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5713C-1C1B-46E4-B605-7B434AC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57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8523D-1324-478C-9688-423ED78B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099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26143-87AF-4CB5-97DE-A887A7EC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FA208-0F4F-409E-92D6-83A8FF9B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1467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Backup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55FBA-0359-40BB-A69D-BAEA228D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48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기존 상태 보존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4C63E-6439-4CF5-8C5F-95AC7C69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2E13F-CEA6-470F-A120-2B979DA7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099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3A15E-04F4-4C29-8E71-C34E98EF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52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532D1-50CE-4FC8-B6EF-77C1EFAA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Reset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33FD4-FAEB-4942-9F3C-13FD9BB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48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현재 상태 live 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02845-3B58-434B-8F6E-CA4B123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856BD-D765-492E-987F-9489F72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099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25BB3-C401-458F-997E-5D103ADE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558A0-83F7-4065-BBAC-3051F21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Harness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94355-9192-4805-AD1D-961521C8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state machine +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A6FDD-6ABE-414F-AD54-5B6BC38D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14900"/>
            <a:ext cx="8229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0C733-5C04-4B99-8C8F-0D99236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14900"/>
            <a:ext cx="57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2A81B-5574-4AAF-AD18-70F9A549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86350"/>
            <a:ext cx="784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Key move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FDEF9F-7BFC-4246-863C-AA6AB39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29250"/>
            <a:ext cx="784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완료 이력은 archive로 보내고, STATUS.md는 현재 상태 live board로 축소했다.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75005B-C5F4-4BD3-BCAE-12AE630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0344A2-975A-424D-8535-C01A97F9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0A299E-50B7-4E92-AAC9-3E26923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3204352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DBE9B-5206-4EA7-A1BF-5787540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8BD5F-A533-46F5-8189-9C80F204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8B972-5769-4190-9AE5-FA3B5C42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7D831-FE3A-4FCF-8CA6-17A3B673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현재 위치는 ‘실사용 가능한 manual-first v1’이다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1EBA2-1FA7-4872-B630-5DDE5BF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상위권 문서 체계에 상태 머신과 cross-tool 정렬을 더했지만, full enforcement engine은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F76EA-C66B-469B-9887-9A9AA3CF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0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DC50C-4563-44C9-BA73-251C2EB0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Production-grade enforcement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BFAA0-64FE-4799-B57D-6B653787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251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CI/hook이 규칙을 강제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CFC22-78EB-47FC-B907-AD91BCF1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265AB-F5D3-4338-903F-E035290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Manual-first Harness 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E74CB-344E-47EB-881E-7F77A5E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67100"/>
            <a:ext cx="441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상태 머신 + 문서 역할 + tool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F5F91-AD47-4129-B4A6-93F0DAE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2430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51C60-60C7-4B4B-90B6-201A730C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19550"/>
            <a:ext cx="632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Command + status docs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537A5-B16E-4DCA-9772-3D620CF5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48150"/>
            <a:ext cx="6324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slash command와 backlog는 있으나 구조 drift 가능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8E5ED-A9F6-4D1A-A964-81C97EEC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68257-DEF2-4C7A-874D-1AEFF25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00600"/>
            <a:ext cx="822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Prompt library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87CA0-F5AA-4179-AF42-A23632BD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29200"/>
            <a:ext cx="822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좋은 prompt는 있으나 세션 운영 기준 부족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37FDD-3D7D-4F3D-9DD2-69BEADE3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정직한 평가: v1은 실사용 가능한 운영 체계이지만, v2에서 선택적 enforcement가 필요하다.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04898-EEFC-4962-A674-938B56A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8532D-BD72-46BA-910A-48F337B3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D1F41-85D1-4B4F-8968-227240A3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2445197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DE255C-1B88-433C-A8AF-33792F22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1DD77-DEF1-4BDC-8CFD-165496C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CF865-4A19-46A0-AA7C-03D762A9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7A8D7-9FF5-4D04-85F0-83D587CE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Harness v1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97F1F-4638-4946-92C0-171B4ECA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작은 상태 머신과 역할이 좁은 문서 생태계로 반복 세션을 안정화한다.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01652-D465-431E-BB65-36850892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3EC66-2D7A-4726-9788-031C3256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30 min internal engineering share</a:t>
            </a:r>
          </a:p>
        </p:txBody>
      </p:sp>
    </p:spTree>
    <p:extLst>
      <p:ext uri="{BB962C8B-B14F-4D97-AF65-F5344CB8AC3E}">
        <p14:creationId xmlns:p14="http://schemas.microsoft.com/office/powerpoint/2010/main" val="25868899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D8D59-7A5E-42CE-BDA7-DB1639B9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939C0-A18A-452E-9179-19A618D4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0EFAF-C916-42A3-B0CB-58E19449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0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DE439-6D1F-4C8A-BFA9-5076FC2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Harness v1은 자동화 엔진이 아니라 실행 프로토콜이다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94C4F-2775-4FA2-B4E3-55754590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Agent가 같은 절차로 시작하고, 계획하고, 승인받고, 검증하고, 재개하도록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2714-3960-4FD3-9EAB-C1C716E0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363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CBCA-1C83-49C6-BDA8-11184ED3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948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Agent가 따라야 할 상태, 문서 라우팅, 승인 게이트, 검증 조건,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실패 복구 규칙을 repo 안에 명시한 운영 프로토콜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420FB-F4F3-4063-B4E5-C41918B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FAECD-F38B-4500-8434-823DD6FC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CBE69-B592-4C93-8CE3-ABBA57FD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5A7B1-92DB-48DB-B7DC-9E31A47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Stateful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B5310-56C7-42CD-8066-4E7E1C14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E8116-DA9C-4E0C-8ED5-63BE6918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Controlled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DEDA0-6724-4696-9FE4-05D9FE82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23FCC-6602-4CF8-A8BF-92C2E472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Failure-first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5EE1E-28CB-4CBE-A932-F5E373A8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7F10-19F3-42DF-BCE0-B71E0E08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10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Reversible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8E78A-DFC7-4DE1-9650-D4FBCA3D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91200"/>
            <a:ext cx="834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Not a workflow engine. Not agent memory. A small contract that survives session boundaries.</a:t>
            </a:r>
          </a:p>
        </p:txBody>
      </p:sp>
    </p:spTree>
    <p:extLst>
      <p:ext uri="{BB962C8B-B14F-4D97-AF65-F5344CB8AC3E}">
        <p14:creationId xmlns:p14="http://schemas.microsoft.com/office/powerpoint/2010/main" val="46822316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38663-1722-4FF9-9176-490A6B92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09EEF-1211-429B-84B8-545B2E7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B928A-B817-4996-97F8-A300EE2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4A260-B18F-4C42-B22E-956349D2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핵심은 작고 명확한 상태 머신이다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4C6FC-0200-4451-916D-AB70A7AA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정상 흐름과 실패 복구 흐름을 같은 그림 안에서 다룬다.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C6922-9E85-4971-8D88-CF50CBB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6140E-D0E3-4FF8-B651-36F3123E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EB7AE-C3DA-4FA5-AD81-3D73B7E5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AD83D-5716-499B-92D2-167AA73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E785C-129C-4D40-9EB7-21C5822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B61F3-6F71-4FD3-9F0B-4E64FA8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E311F-2BE0-403A-8D11-5C368093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564B5-34FF-43C8-89D6-DEA3E3CA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58176-195B-4231-AB91-C448A65A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D0CA4-A05C-423D-BA6B-3CBB9CC7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DDDE7-A1B4-4813-9205-14DD2F27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6F403-A1DA-44AA-9B76-2A7046FC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AAF47-CAC3-40D2-AEC3-7102FA98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27051-44CB-41C4-831F-B6A34FC6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81105A-A51F-437F-8264-1E9A2FE0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70577-BF50-4537-BF69-0215E4E1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75480-EE89-40B9-9BE9-6D21CE03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C22DE-DF84-45AD-B454-77D1F153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1F2F3-67E2-4A72-B373-B42C0DF5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4DC2C-7E51-499F-A29F-DA70C7B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7DB48-9B51-483A-BEC8-46C7D1C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8B386-1324-480F-BC93-87F0BB9C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55FE26-2836-47EB-A53C-028F34F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099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E0842E-6E02-4E3C-B147-62E3F21C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623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7DC16-A8DE-4EDD-8286-10B90389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09EBE-A79C-4424-AD7E-6D6F510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670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C899D-EE2C-4C1F-BBD7-DE222D7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923785-59BB-4056-BA53-DB483041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E5569C-DA2B-4EB3-BE87-1CF023B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E08E8E-5506-4953-86F1-04D173E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244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RECOVER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B197D-861C-4BC7-83FF-84B6B121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957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899B1-2D8E-458D-A319-F85B4A1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005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270BD2-24DB-4AE3-B5E5-BE8914D0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672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BAA29E-399F-4151-8FEE-7970127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196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E98D59-DF8F-4BA1-9A25-437F9E3A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실패는 예외가 아니라 공식 경로다. 검증 실패, STATUS drift, scope drift는 RECOVER를 거쳐 PLAN으로 돌아간다.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C98507-D508-4DB2-92E5-9786DC2E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6844A0-44FB-4519-AEE6-673C6993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642950-5163-449B-A7C3-D2002ADB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41731904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D549C-DB7E-45AA-8E5B-A01397C7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975AF-0BEC-4EBD-A30B-EFDAF5DD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Document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E5124-FDD5-494C-99A7-77F1D113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496C0-A711-459F-9C75-5BCE94A1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문서는 많아졌지만 역할은 더 좁아졌다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FB2CA-4284-4FEB-827C-5DA22E54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STATUS, backlog, DR, archive, protocol이 서로의 역할을 대신하지 않도록 분리한다.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987D0-72B3-4592-AB2C-3A0288EC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BBA9-B46C-4820-AF9B-82CBDA6E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STATUS.md</a:t>
            </a:r>
          </a:p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current live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DBB1-29C2-4C2F-907D-BA08D1F5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24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BCD06-0335-4500-B454-2DAECF25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669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PHASE{n}.md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7249E-4E89-4E1B-B5AF-EB5EECF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product backlog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6FD24-28E5-45A0-8809-B957DC85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146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FD7D6-ECD3-49E5-9681-DCD9B396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622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64BD2-CC30-4862-A244-FC70D82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03C37-A5B5-41C1-A66B-096FBB4E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909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E5E49-C634-44FD-ADE7-9FCBF1F1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workflow backlog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CE092-D20E-46C2-9E38-0F89E4D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1466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7EB8C-A7D7-422B-8A54-D81C2427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0862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DF659-5FEE-459D-966A-6BE51980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5D3DF-44FE-48F7-B2C8-9FFB2FC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DR-*.md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45143-3DEA-4E26-A3D4-FE56C2C3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decision 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E153F-EA08-4DF9-BB8D-E6E5E12E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4DBEF-7951-4961-BECB-E6254039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180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BFFF4-08F2-41D3-9445-6F7DA437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909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archive/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9201C-0B7B-448C-8C37-96FABB5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completed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72001-0DAF-4059-A0E4-55F958DC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1AC43-2E8B-4948-A443-18CCDA8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87CD5-E04E-456C-9B44-35F4CB5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148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HARNESS-PROTOCOL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D2982-7032-4C60-B1D1-065B16A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57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agent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87D64-2737-4B88-82DB-AC3CE873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9D8B8F-DD0B-4875-9CB4-1FE343D9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101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005E8-C73B-47EF-988C-DEB160B2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95950"/>
            <a:ext cx="845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원칙: 현재 상태, 후보 작업, 결정 근거, 과거 이력을 한 파일에 섞지 않는다.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2CD58-7E0A-4B6B-9C1C-1C50732D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DE1DD-642F-4471-8690-D488EB2C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0830E-4816-4907-A383-645A1615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6932728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496C04-F088-4C65-B9A1-3B1535D0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E382D-E62C-4EA0-8F85-3F89669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Context Loading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EB1B5-892D-4FB7-A369-09C4DAA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BCBA-9A40-46C5-B5BA-A7DC122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항상 STATUS에서 시작하고 조건이 생길 때만 더 읽는다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A3399-9926-4EEE-82F1-52C0613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토큰을 아끼는 문제가 아니라 잘못된 과거 맥락을 막는 문제다.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5DC1F-2956-45B9-BA0D-50087F3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01314-C687-40F8-B5C5-B6673A1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907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Always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B6E72-9C1E-4663-B1B7-10E3F41B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C88C6-4BD3-4532-A871-FABC824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9077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docs/STATUS.md current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A7E73-8D75-4F8C-9DF3-3F4FCA6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123B5-690B-4626-B35A-5188E27B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Product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57C73-1B0A-40AE-A231-259B68A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B7F91-BA82-4569-9E40-DA70484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432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docs/backlog/PHASE{n}.md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7A432-65BC-466A-B906-637051DC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809C6-E457-4A7D-8950-231FD45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956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Harness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B9B0E-EA5F-4639-B9DF-A4D8A3E2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B586C-D107-4D57-A50D-18EF420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9567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docs/backlog/HARNESS.md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F7EBF-7BF7-4EF5-B621-905ACD9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4A4D8-DE9F-45AE-9EA7-6B53B78D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481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Architecture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C478C-15DA-4BC5-B909-026A963B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1663C-D1E8-4CA7-A34B-F1022B6E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481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docs/PLAN-SUMMARY.md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0E959-8FF7-46B2-810E-7B18E407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24E0E7-8259-49E7-9EFB-C7E330D0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005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L3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BE657-1ECD-4968-B0E5-D506D73E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1652C-5DA1-4854-A173-E236EA21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0057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docs/PLAN.md + related DR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94CD26-B4AE-4A87-869C-8458E4EB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1809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C4B59-2C08-436F-92FA-98DF0B7D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530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Past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89BED-9A1E-4D29-88DB-BB5F40B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A6EF4E-6A17-49D8-AA58-1E8499E9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53025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archive / retrospectives / troubleshooting only when needed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40C6F-3821-4538-A3C3-CF79379A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F0FCF-A19B-45F2-80FA-073CE5B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9F9A9-38D8-42AB-8B03-7CD59DD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Anti-pattern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E9C08-9C0B-497A-BC06-2384703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62650"/>
            <a:ext cx="781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전체 repo 또는 archive를 먼저 훑지 않는다. 필요 조건이 생길 때만 읽는다.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179D1-45DA-4E04-AA61-37932FE6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ABFF-A7A4-43CA-81A7-4D185F10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5BE8A7-E6E1-49B0-9E25-18C85A54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2712896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7F4B2-4502-457D-8FE4-DAD779A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0A818-B65F-4A62-9FA1-0CA37550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Risk And Status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361CE-5AA3-4169-8B08-5641BCAA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DE8D0-5FB7-4F66-8287-8995B488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승인 게이트와 STATUS Update Proposal이 drift를 막는다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BB3A6-D29D-4534-9D75-89AD6316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위험도에 따라 계획 깊이를 조정하고 STATUS는 메모장이 아니라 승인된 현재 상태로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4CC86-207B-448B-9751-D560B603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781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89407-F74F-4C36-8BB9-1D893D0A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A8BFB-3799-466A-BF4D-4B43E91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14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L1 Safe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C2302-C0E5-40DB-AA09-2907485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문서 소폭 수정, 테스트, 국소 버그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28363-4C86-4DBF-97D8-2E7E93A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간단 plan 후 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5BFAD-5B6E-45F8-B3E4-B2A6ECB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781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4BAF-B9ED-467F-ADB8-878467B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882C3-117C-4059-9198-09BF70F0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L2 Normal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6300B-6F25-44DE-861C-AEB1067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9090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기능 구현, 설정 변경, hook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4999-251D-4B55-95D0-AAB2A16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05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상세 plan 후 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207D6-52EC-4C5C-8BA0-22F26C87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2781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3E650-7D26-4896-9C3F-ADFA4460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6E53D-5B90-4D31-A994-8715170D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L3 Critical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358E7-532A-4E8E-BF5A-57457C79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아키텍처, 보안, 인프라, DB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EF6F3-324E-4E07-A1EC-47C776A6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AS-IS / TO-BE + rollback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D73B6-DD0C-4FF6-8345-C4B7F36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0B365-0E24-4797-BCBE-C109324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E1A1D-1654-45C4-906D-4BD04AED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STATUS Update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76A82-D80E-4926-B035-2F794FFD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STATUS.md 변경은 risk level과 무관하게 Proposal → 사용자 승인 → 수정 순서로만 진행한다.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5DEF1-EE09-4BD5-83CD-4A2F690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82BF5-40DF-4389-AE4D-F0EB525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37C9B-40C0-4D07-A279-CDD73AF1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87995731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A842C-9AA7-42FE-9F17-324C65AD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ADF4D-FC3D-4B31-AB9E-94B3568C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Tool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BBF0C-7041-4EC8-804A-BFA79489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89C3D-4158-4D71-8C09-5E5F73AC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Claude, Codex, Cursor가 같은 운영 계약을 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A4860-000C-4EC1-8538-4ACCEBD6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도구별 표면은 달라도 공통 state machine과 validation default는 공유한다.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84333-D133-4D5C-AEB3-F2FED165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2819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23E5D-82CA-42D7-A933-13F8CD87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69A72-C3C2-45C9-95C5-E9F3CBD8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2BE83-439F-4C98-95E2-069822C3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2438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CLAUDE.md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.claude/commands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.claude/rules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Stop 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729E-2E7B-4A8C-AEE1-1CE5E7F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819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FFB11-3F08-44B4-8A5B-066B6DF7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D854C-73CA-46DB-BFD6-4802D481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E2D0C-3881-4930-B12F-D0E9227E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438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common workflow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manual command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A8EA8-9F77-4C73-BC51-5B6F488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28194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480C2-E56D-45F9-947A-26848507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DE419-D2CA-4781-AD28-AC5912E0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Cursor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7F41D-6FAA-433B-8D14-82A3003A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2438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.cursor/rules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session prompt</a:t>
            </a:r>
          </a:p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commit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A4BEE-BF88-43B7-806C-037E0BE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53000"/>
            <a:ext cx="4724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1720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3DB58-4320-4F25-B268-2D16BCB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62550"/>
            <a:ext cx="4533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docs/AGENT-WORKFLOW.md</a:t>
            </a:r>
          </a:p>
          <a:p xmlns:a="http://schemas.openxmlformats.org/drawingml/2006/main">
            <a:pPr algn="ctr">
              <a:def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shared operating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001A1-0404-4B28-AD92-7AC389E8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100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F38FF-EEFF-4AF7-8002-3ACE398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434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9238F-BBA2-4EB6-8C74-D71493DD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100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014E2-D07F-40DC-B158-797B620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434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5F80C-8690-40F3-BEE0-9A41751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100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DC9DA-E53A-435D-899B-9F85A1B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434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120145-4520-4FB4-99FD-2ABD4659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82C70C-19A9-4EA5-86E6-F3E929EA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CD6F1-7EDC-47BE-9DBA-D6146844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71920697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85702-247A-4239-9D96-E906B5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01C6F-E8FB-4D20-9251-6F6064AD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B55EE-3B44-479D-AB33-99274BA0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9999B-B43B-4C0F-BBE9-9CBA9E74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Manual And 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69361-5A44-4504-ACFD-4027B5BB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개발자는 복잡한 문서를 외우는 대신 반복 절차를 따라간다.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8A382-861A-4958-BCDB-EFCF2AF8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49C99-8D17-4222-9529-9AB53A75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30 min internal engineering share</a:t>
            </a:r>
          </a:p>
        </p:txBody>
      </p:sp>
    </p:spTree>
    <p:extLst>
      <p:ext uri="{BB962C8B-B14F-4D97-AF65-F5344CB8AC3E}">
        <p14:creationId xmlns:p14="http://schemas.microsoft.com/office/powerpoint/2010/main" val="107595206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003DF2-269B-4F30-ADB9-FF9F8D71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D150F-FC64-4259-A5DB-1512C0B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Command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C7B24-CFBE-4CC1-8702-9FD75652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523E5-020C-4FBB-BEC0-75E230EC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Slash command는 업무 동작을 작은 절차로 만든다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35C4-B208-4292-9079-118617AF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시작, 선택, 계획, 재개, 등록, 결정 기록, 보고 산출물, 종료가 각각 다른 의도를 가진다.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A2F9F-B8DC-473B-B72F-28832A16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AF3F4-F006-4CE8-9818-9B1466A8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C23EF-6DDB-4D68-A9CF-A626E47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/start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C36F5-28DA-41E5-A45B-BE1C58F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현재 상태 요약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D4BE1-53DA-4CA0-9C1E-C3966080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53A9F-C353-498D-91FD-7BE0A02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6F91F-FF67-4E96-8429-C49865D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/pick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F8D78-C0E9-4489-9A2B-79488A12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908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backlog 후보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5E518-DCC6-455D-9D0E-F589D2F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84D18-84C3-47FB-8A62-4F68CC79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08801-EEC5-483B-9D69-5E923335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03D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5803D"/>
                </a:solidFill>
                <a:latin typeface="Aptos Mono"/>
                <a:ea typeface="Aptos Mono"/>
                <a:cs typeface="Aptos Mono"/>
              </a:rPr>
              <a:t>/work &lt;ID&gt;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12D15-E7AD-4605-957E-D07EECF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scope/risk/verification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635FA-4D06-4C70-9E49-1D002185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92837-BAF1-4CF3-AB30-F0E6B4B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9A60A-FE33-4EE5-A7CE-6857750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/resume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8C69D-095E-4F6A-BC3A-B19FF8B5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drift 확인 후 재개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68C6F-248B-4847-8819-F5E8CE4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8E51D-E392-4C21-8B2D-A75DE16A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E2612-6484-4B56-AE86-8949F05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7C3AED"/>
                </a:solidFill>
                <a:latin typeface="Aptos Mono"/>
                <a:ea typeface="Aptos Mono"/>
                <a:cs typeface="Aptos Mono"/>
              </a:rPr>
              <a:t>/register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DA988-B0A2-43AA-9C43-8892FA7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새 작업 위치 결정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87A3D-9656-4B6B-8E34-FDDAAFF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719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122E9-6821-40C7-AF62-FE6946B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719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CE868-19A4-4D70-918C-610C07BD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F46E5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4F46E5"/>
                </a:solidFill>
                <a:latin typeface="Aptos Mono"/>
                <a:ea typeface="Aptos Mono"/>
                <a:cs typeface="Aptos Mono"/>
              </a:rPr>
              <a:t>/record-decision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CFA679-0718-4327-B60F-8B408510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DR 생성/갱신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952310-49D1-4B9E-B8BB-B8C0537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7F2B74-B155-4440-869B-0A26621B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CD69C-D68D-4CD5-BCD0-574EEE91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/doc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BB4C3-4608-454E-8466-37D1E72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발표·보고 산출물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D2802-AC9A-4D83-B4FD-3BA5A444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AEDF6A-CAA7-4BA7-B5AB-5A89DE1D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23F744-EB32-4E6E-8A23-446F0E5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C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17202C"/>
                </a:solidFill>
                <a:latin typeface="Aptos Mono"/>
                <a:ea typeface="Aptos Mono"/>
                <a:cs typeface="Aptos Mono"/>
              </a:rPr>
              <a:t>/done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182CA-EC0F-4360-B580-596985A9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세션 종료 체크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2A471B-B211-48B7-997D-F6043251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BA23E3-A7F4-4368-ABC1-A5F266D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E123AB-DD75-4D27-B8E9-4BE8EA08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Intent recognition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E23E8B-878F-4921-B178-B7807113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8191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slash command가 없어도 사용자의 의도가 등록, 재개, 보고 산출물, 종료에 해당하면 같은 절차를 따른다.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432912-42CF-4D84-9130-95E5003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D12BB-0A12-471A-87FC-25AF0D8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FE814E-F851-454A-BBF2-D48F978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54802647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C0B56-CB2A-48F5-B6C5-781E162F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194DE-BFA4-42F1-884F-43B1F61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Daily Session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6F16A-7563-4364-9C2F-03527B00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583CC-7135-4194-8B47-896952BB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일상 세션은 읽고, 고르고, 계획하고, 승인받고, 검증한다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88A4E-9050-44BC-9848-1E1760E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/done은 작업마다가 아니라 세션 종료 시 실행한다.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4226E-652F-4CC1-A604-BC674916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98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C74C0-8AB3-45C0-8810-3C8BA052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4C781-6CF9-4696-A976-A5301424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860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1.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D1BB5-21EB-46B5-8699-BD9D1D2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860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STATUS current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B7776-5F9B-43BD-9B29-901BB7C2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6D1A0-1F07-4591-BAE3-E41F3411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05372-5AE2-4A99-AB3F-CA4D8064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62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2. Pick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55879-450B-4DF4-8B35-3480F83F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PHASE{n} or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94E09-5D54-40D0-A398-EBA2353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A4AAA-22C7-4CFB-850D-F3F8C8F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623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7D28A-5799-4F95-9887-C3926410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38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3.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B2FF6-FA5A-4231-B38E-D4E617C0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scope, files, verification,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67263-6967-45F5-A4D5-F4C1DC0F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38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FB64A-2CBB-4434-8A45-830BDA73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F4CAF-6EC2-4843-9210-BEAF4FC9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14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4.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4137E-A7FF-41CB-9C3B-6D94DB24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explicit user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A5FAD-74F8-45E3-8EBC-09A0ABA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DBDD6-41AB-4822-BE2B-7F5A94AC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B4757-C4D5-46DD-BAA2-F2C3A92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910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5. Execute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9EECA-9740-434A-80A1-DB59321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approved narrow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A0DEA-C4D3-4022-8365-44D2C8BF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81FAE-B7EE-4DE2-BE22-7D5C848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910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99D9B-8F55-4406-A2B4-2EE8F09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67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6. 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FBF567-8A43-43F8-BE69-44FA37AA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67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tests or doc 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F9A5C0-6B90-4706-B746-DC832D6E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46D7D2-382B-46F7-982B-C201AB2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673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4AA5D8-D9EC-4F68-9127-DFFF687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43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7. Checkpoint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65596-235B-4065-8633-079CA687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435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commit and STATUS need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30A430-75EB-4A25-A31B-970C584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10250"/>
            <a:ext cx="830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`/done`은 작업 하나가 끝날 때마다가 아니라 세션 종료 시 실행한다.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6473C-C176-4CEB-8CFB-362A398A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62BE21-3DD7-4F44-B872-17EC6BF8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39B01-18B3-4336-A264-08759088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75226211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519C5-0381-4129-8FDE-7905A8B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317FE-EFA8-4C50-BE0B-F0E1BA0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First Session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DD91F-9020-4B13-9901-63CAE16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A181F-E007-4D4E-9C29-C4EF5C8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새 프로젝트 적용은 세 파일을 채우는 일에서 시작한다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339C1-861F-42A5-88A7-EA3BCCB8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STATUS, PLAN-SUMMARY, PHASE backlog가 첫 세션의 최소 컨텍스트다.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A3A97-9609-425B-95FD-14E5F3E2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343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F4601-1C8E-4822-AAA4-AAA25892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64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5AD47-57EB-4F56-BE3B-535FF93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4C7F2-9DF4-43AE-93CD-F2F7FBE5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86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STATUS.md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0D71E-CFAE-4502-96C4-8014DF6C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908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프로젝트 목표, 현재 phase, active work, next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2B2F8-5E42-4768-A6B2-D854F72C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343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B0C13-ECA4-4471-B919-CDE7FADA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64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107CE-2B8E-420D-B6A4-11040407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3C000-5870-467D-81EC-6DA886CE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PLAN-SUMMARY.md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09EFC-FCC0-4FB2-BC7C-00F64FB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기술 스택, 서비스 포트, 핵심 architecture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C308D-4D40-4449-8B3C-549AC52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343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7AD67-3F46-4194-9B1D-A74C05F6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64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1B026-AF98-416D-8DF9-A7912F76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D1F7E-AAC5-4B03-9D0B-CC6D7D1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PHASE{n}.md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DE94E-40D0-4067-A214-65666ACF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초기 product backlog와 preparation candidates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2748C-EDF7-461B-AE27-9D44A7C7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4343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9C5A1-A485-42DD-BCAA-AEAFB01C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64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8A2F6-800B-4794-BB13-3AF4179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65D4E-1649-426A-A81C-D42E9039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First session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5D41F-4F0A-4C39-BD5F-59B23842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`/start` → `/pick` → `/work &lt;ID&gt;`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89B4A-5B11-4AAA-A725-170A1B1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운영 매뉴얼의 목표는 ‘문서를 다 읽히는 것’이 아니라 ‘첫 세션을 안전하게 시작시키는 것’이다.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F6E8A-38B0-4FC2-9EC9-66BAB02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80D83-EB2E-4B4A-B6D4-13C07DBF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E0ABC-30C8-4728-82FE-5B209004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124020044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A7710-E8D6-46C2-AE7C-34B6962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B43D3-F4C3-49C2-B8AE-EEFBBBD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Scaffolding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FB1F6-2D5C-4D0E-8997-271AD365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D5B48-13CB-48EA-BD7C-BD818FE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하네스는 이 repo 밖으로 옮겨갈 수 있게 설계됐다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F8E74-EF0E-4180-ADE0-848E9B0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generic / spring-boot profile, existing overlay, no-overwrite 원칙으로 새 프로젝트 적용을 고려했다.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635AC-8F50-4A60-978B-AC9E47B4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20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6D13F-CAA5-498B-A3A6-44B073F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242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create-harness.sh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F42BC-BFC8-4759-A412-6ED5055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96576-236C-41C1-996B-75D90AFE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7652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generic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318EE-67C8-4F29-B989-1ED47959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48AC3-3317-4ECD-A4D5-77F3A198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spring-boot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996B5-EDA4-4370-A8FE-1E42BB57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5E159-B79C-4BFE-BE96-59E4AFE5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7652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new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2053A-2507-4D55-8421-1DC1D585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1D1081-9C6A-4CBB-9D14-81B683EB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1477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existing overlay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8A945-4A51-4FEC-993D-64C62F4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657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79390-7343-45D5-A3D6-4EBADF2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242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no overwrite</a:t>
            </a:r>
          </a:p>
          <a:p xmlns:a="http://schemas.openxmlformats.org/drawingml/2006/main">
            <a:pPr algn="ctr">
              <a:def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reusable harness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F3733-B16D-47C6-B6B1-5F0105C5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671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956F1-F450-4CC5-8A61-230F5FFB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19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D08DD-A965-426F-BC6E-82FEDC55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7AB10-451F-41E9-9DEA-B0D66B9B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717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AA9D6-1D20-4871-85C9-0889329C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A717A-2567-475D-BC81-15FCA39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10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6C779-8786-46AB-8D4B-EB0C0A71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5904D-D0DE-4CF0-81FE-1A4315C0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717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3C863-8234-45BF-A14E-F7FAAE52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933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071E71-33CE-42E4-8426-A4D2CE67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002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1E41D-375F-44D3-894F-B61D1B0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57800"/>
            <a:ext cx="887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Scaffolding 관점의 핵심은 repo 특화 규칙과 범용 운영 규칙을 분리하는 것이다.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9D6A9-634A-4DC6-99F2-B264C29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AB217-3A3E-4276-AA77-C272498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EA39D-374A-4A25-B35D-096B8F2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74269212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0DF55-171B-4FAC-8444-E3A03063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ADA77-FC3B-44F6-BA45-0C1FAA8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69641-4186-440D-9B5A-5802BD8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489CC-C673-462A-90D6-5A0767AD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Limits And 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49D05-2789-41A8-8086-3C56869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v2는 더 많은 문서가 아니라 더 좋은 경계와 자동화다.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5ACF3-8F72-46DA-AD13-47D32858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FC7C5-E125-4987-B94B-C0C41F06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30 min internal engineering share</a:t>
            </a:r>
          </a:p>
        </p:txBody>
      </p:sp>
    </p:spTree>
    <p:extLst>
      <p:ext uri="{BB962C8B-B14F-4D97-AF65-F5344CB8AC3E}">
        <p14:creationId xmlns:p14="http://schemas.microsoft.com/office/powerpoint/2010/main" val="17753505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6AD04-9ADF-4E88-B515-857594C2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A0AE6-7703-4FFF-B040-A5A11A2C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v2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45011-1D86-4A28-A23F-8D14E5E0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E08CC-D8FC-4764-AB33-15A7E30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09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반복해서 틀리는 지점만 선택적으로 자동화한다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3E0AE-2FB5-41A4-A257-046BF54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435267"/>
                </a:solidFill>
                <a:latin typeface="Apple SD Gothic Neo"/>
                <a:ea typeface="Apple SD Gothic Neo"/>
                <a:cs typeface="Apple SD Gothic Neo"/>
              </a:rPr>
              <a:t>Stop hook 강화, validation reminder, semantic health check, SSOT config를 점진적으로 검토한다.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DABF0-B584-4B45-AFD8-0FA324DC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B844A-1C51-46F7-B425-F9DAC118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432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AB4B-01B0-4320-8772-2621166C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Manual-first v1</a:t>
            </a:r>
          </a:p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STATUS gate, /doc,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B283C-1015-42CD-80AB-1D0482F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861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C53A5-15D0-4E9A-BD45-65BD618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038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751AD-B40D-4B39-A964-F54F5522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E92ED-5A4B-4470-81A8-34A892F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432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D2624-2174-4432-AC52-1E43526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Selective enforcement</a:t>
            </a:r>
          </a:p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Stop hook, validation reminder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61C19-A3A1-4CBB-88AD-0484D1C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9553F-548E-49B5-BAE7-F39E1F0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38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53DC2-2886-4875-94FA-D28F5CAD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B757B-C39D-45D6-8861-9163B9F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7B66F-48F7-4046-8C2F-3FC4FADF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Health intelligence</a:t>
            </a:r>
          </a:p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semantic drift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5065D-4C46-48DC-95B1-0E3A207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DC156-9A68-4A1B-A820-4A66FEB0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384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B91D7-21DB-4FE0-8427-DE53EDF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384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F8385-0ED2-42A1-854F-A1A746A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4322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5803D"/>
                </a:solidFill>
                <a:latin typeface="Apple SD Gothic Neo"/>
                <a:ea typeface="Apple SD Gothic Neo"/>
                <a:cs typeface="Apple SD Gothic Neo"/>
              </a:rPr>
              <a:t>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F7B38-7E87-4971-A0CE-7AFC25E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.harness/config.json</a:t>
            </a:r>
          </a:p>
          <a:p xmlns:a="http://schemas.openxmlformats.org/drawingml/2006/main">
            <a:pPr algn="ctr">
              <a:def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SSOT when patterns stabilize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E006C-EDDD-4F69-BD67-C88C9A2D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918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02C"/>
                </a:solidFill>
                <a:latin typeface="Apple SD Gothic Neo"/>
                <a:ea typeface="Apple SD Gothic Neo"/>
                <a:cs typeface="Apple SD Gothic Neo"/>
              </a:rPr>
              <a:t>방향은 ‘더 복잡한 하네스’가 아니라 ‘반복해서 틀리는 지점을 더 잘 막는 하네스’다.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7719A-5B2D-4097-91E2-551011CC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FBEF9-9502-46BA-B208-E7EB25FA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Lightweight Manual-First AI Workflow Harness v1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2E0C3-D5FE-478D-8E78-55B7063F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1985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71809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</p:spTree>
    <p:extLst>
      <p:ext uri="{BB962C8B-B14F-4D97-AF65-F5344CB8AC3E}">
        <p14:creationId xmlns:p14="http://schemas.microsoft.com/office/powerpoint/2010/main" val="31187422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E28C30-BB20-4E49-9BBC-60120AF6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D8635-6635-46A8-A902-E60ADD1F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CA4D7-1E4C-496F-90C3-B592B93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작게 시작하되 반복 세션에서 무너지지 않게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EBF85-1F51-4339-AA81-23475E4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D9E2EA"/>
                </a:solidFill>
                <a:latin typeface="Apple SD Gothic Neo"/>
                <a:ea typeface="Apple SD Gothic Neo"/>
                <a:cs typeface="Apple SD Gothic Neo"/>
              </a:rPr>
              <a:t>AI Workflow Harness v1은 개발팀이 AI와 함께 일하는 방식을 repo 안에 남기는 첫 운영 단위다.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7177D-59DF-49E8-B8F7-9104E4E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3"/>
          </a:solidFill>
          <a:ln xmlns:a="http://schemas.openxmlformats.org/drawingml/2006/main" w="9525">
            <a:solidFill>
              <a:srgbClr val="3A4A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604A5-8099-466F-B5E3-D1CC2FEC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21D1-9AAA-49D4-A2D8-C1EE6B0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협업은 prompt만으로 지속되지 않는다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8E20-B3B3-42F8-AE70-0D513BA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3"/>
          </a:solidFill>
          <a:ln xmlns:a="http://schemas.openxmlformats.org/drawingml/2006/main" w="9525">
            <a:solidFill>
              <a:srgbClr val="3A4A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A33F2-2B19-4EA4-A988-66273AC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A22BE-C090-4B4F-A305-3CB9F58F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52975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STATUS와 state machine이 반복 세션을 안정화한다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DAD2D-55E6-4603-A6C4-4BE656CE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33"/>
          </a:solidFill>
          <a:ln xmlns:a="http://schemas.openxmlformats.org/drawingml/2006/main" w="9525">
            <a:solidFill>
              <a:srgbClr val="3A4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C293A-2777-4798-AF93-FDB5628E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4A78A-89C0-431D-A1ED-B9EEA0FA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Manual-first v1은 선택적 자동화로 진화한다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7A90C-920E-41FC-887D-D148DB8E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  <a:p xmlns:a="http://schemas.openxmlformats.org/drawingml/2006/main">
            <a:pPr algn="r">
              <a:def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5D0DC"/>
                </a:solidFill>
                <a:latin typeface="Apple SD Gothic Neo"/>
                <a:ea typeface="Apple SD Gothic Neo"/>
                <a:cs typeface="Apple SD Gothic Neo"/>
              </a:rPr>
              <a:t>2026-05-16 · Document v1.1</a:t>
            </a:r>
          </a:p>
        </p:txBody>
      </p:sp>
    </p:spTree>
    <p:extLst>
      <p:ext uri="{BB962C8B-B14F-4D97-AF65-F5344CB8AC3E}">
        <p14:creationId xmlns:p14="http://schemas.microsoft.com/office/powerpoint/2010/main" val="126870025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43B0F-9E4A-492F-B6A8-BEA40183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E1759-128E-4E5A-8B39-47FBA9CA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BEA5E-CEE2-4B7C-B1C6-0D5D8B19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A265E-C427-4E79-B8B8-B6EECD40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4B8A6"/>
                </a:solidFill>
                <a:latin typeface="Apple SD Gothic Neo"/>
                <a:ea typeface="Apple SD Gothic Neo"/>
                <a:cs typeface="Apple SD Gothic Neo"/>
              </a:rPr>
              <a:t>박경서 &lt;Kyungseo.Park@gmail.com&gt;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A9BE2-8D8C-48A0-BFCB-1603937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EBCCD"/>
                </a:solidFill>
                <a:latin typeface="Apple SD Gothic Neo"/>
                <a:ea typeface="Apple SD Gothic Neo"/>
                <a:cs typeface="Apple SD Gothic Neo"/>
              </a:rPr>
              <a:t>github.com/kyungseo/base-msa-template</a:t>
            </a:r>
          </a:p>
        </p:txBody>
      </p:sp>
    </p:spTree>
    <p:extLst>
      <p:ext uri="{BB962C8B-B14F-4D97-AF65-F5344CB8AC3E}">
        <p14:creationId xmlns:p14="http://schemas.microsoft.com/office/powerpoint/2010/main" val="495843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2026-05-15T16:57:12.0000000Z</dcterms:created>
  <dcterms:modified xsi:type="dcterms:W3CDTF">2026-05-15T16:57:12.0000000Z</dcterms:modified>
</coreProperties>
</file>