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오늘은 base-msa-template 프로젝트에서 구축한 Lightweight Manual-First AI Workflow Harness v1을 소개하겠습니다. 약 30분 발표입니다. 섹션 순서: 프로젝트 개요(5분) → 개선 여정(5분) → 하네스 구조(8분) → 메커니즘(5분) → 사용법(5분) → v2 계획(2분).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7개 섹션: 00 AI 협업 방법론 개념 소개(5분), 01 프로젝트 개요(4분), 02 AI Workflow 개선 여정(5분), 03 Harness v1 구조 소개(6분), 04 핵심 메커니즘(4분), 05 사용법(4분), 06 v2 로드맵(2분).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AI와 협업하는 방법론은 Vibe Coding에서 시작해 Prompt Engineering, Context Engineering, Harness Engineering으로 진화합니다. 오늘 발표는 네 번째 단계인 Harness Engineering이 핵심입니다. 각 개념이 앞 개념의 한계를 어떻게 보완하는지 다음 슬라이드에서 하나씩 살펴보겠습니다.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Vibe Coding은 2024년 Andrej Karpathy가 popularize한 개념으로, AI와의 자연어 대화만으로 소프트웨어를 만드는 방식입니다. 개인 프로젝트나 프로토타입에는 매우 효과적이지만, 팀 환경·프로덕션·보안이 중요한 시스템에서는 추가 구조가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Engineering은 단발 요청 품질을 높이는 기술입니다. Context Engineering은 더 넓은 범위를 다룹니다. STATUS.md나 AGENT-WORKFLOW.md 같은 문서들이 Context Engineering의 대표적인 산출물입니다. 세션이 새로 시작되어도 AI가 프로젝트 맥락을 이미 알고 있는 상태를 만드는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Engineering은 Prompt Engineering과 Context Engineering을 기반으로 Workflow Guardrails를 추가한 개념입니다. 단순히 좋은 프롬프트를 쓰는 것을 넘어, AI 도구가 어떻게 동작해야 하는지를 체계로 관리합니다. 이 발표에서 소개할 Harness v1이 바로 이 개념의 구현체입니다.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프로젝트는 두 가지 목적으로 운영됩니다. 첫째는 AI Workflow Harness 자체이고, 둘째는 그 하네스를 실제 복잡도가 있는 프로젝트(MSA 템플릿)에서 검증하는 것입니다. MSA 템플릿을 골랐다는 점이 중요합니다. 간단한 예제가 아니라 실무 수준 복잡도에서 하네스가 동작하는지 확인하기 위해서입니다.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4계층 구조입니다. Client → Gateway → Services → Infrastructure. Gateway가 핵심으로, JWT 검증과 Blacklist 확인 후 헤더를 주입해서 하위 서비스에 전달합니다. 서비스 디스커버리는 Eureka 미사용. 로컬은 localhost URL, K8s는 서비스 DNS.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1은 완료 상태입니다. 현재 Phase 2 pre-entry 상태로, Security hardening과 K8s 배포 인프라가 다음 우선순위입니다. Testcontainers는 P2-006에서 실제 활성화 완료했습니다.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경험한 4가지 핵심 문제입니다. 이 문제들이 하네스 구축의 동기입니다. 특히 '승인 없이 범위를 넘는 작업' 문제는 초반에 가장 많이 겪었습니다. Claude가 선의로 추가 최적화를 해주는데, 이게 오히려 예상치 못한 변경으로 이어지는 경우가 많았습니다.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초기에는 CLAUDE.md만 있었습니다. 점점 task prompt를 추가했지만 세션 복구와 문서 lifecycle이 느슨했습니다. 2026-05-14에 대규모 리팩토링을 통해 상태 머신 기반으로 재편했습니다.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과대 포장 없이 솔직하게 평가합니다. 상위 15%에는 Slash commands, STATUS, DR, backlog, prompt library가 있는 구성이 해당됩니다. 현재는 거기서 한 단계 더 나아가 상태 머신과 문서 역할 분리를 추가했습니다. 하지만 hook/CI로 자동 강제하는 상위 5% 수준은 아직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4대 원칙이 S06에서 보여준 4가지 Pain point를 각각 해결합니다. Context is Limited → 세션마다 같은 설명 반복 해결. Plan Before Implement → 무단 범위 확장 해결. Status Always Current → 결정 사항 소멸 해결. 이 4원칙이 하네스의 철학적 기반입니다.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중요한 차별점은 Scaffolding입니다. 일반적인 상위 15% 구성은 프로젝트마다 수동으로 파일을 복사해야 합니다. Harness v1은 create-harness.sh 하나로 신규/기존 프로젝트에 일관된 구조를 심을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구조에서 가장 중요한 파일은 STATUS.md입니다. 이 파일이 현재 작업 상태의 단일 기준점입니다. CLAUDE.md와 AGENT-WORKFLOW.md는 자동으로 로드되고, 나머지는 조건에 따라 필요할 때만 로드됩니다.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 분리가 v1의 가장 큰 성과입니다. Phase 1에서는 STATUS.md가 changelog처럼 비대해졌습니다. 지금은 각 문서가 명확한 역할을 갖고 있어서 어디를 봐야 하는지 혼란이 줄었습니다.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APPROVAL이 가장 중요한 게이트입니다. Claude가 아무리 좋은 아이디어를 갖고 있어도 사용자 승인 없이 EXECUTE로 넘어가지 않습니다. CHECKPOINT는 작업 완료 후 commit + STATUS 갱신이고, END(/done)는 세션 종료 시에만 실행합니다.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create-harness.sh의 핵심 기능은 --existing 플래그입니다. 신규 프로젝트뿐만 아니라 이미 진행 중인 프로젝트에도 하네스를 overlay할 수 있습니다. 기존 파일은 덮어쓰지 않으므로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Loading이 하네스의 토큰 효율화 핵심입니다. STATUS.md만 읽어도 현재 상태를 파악할 수 있도록 설계되어 있습니다. 필요한 파일을 순서대로 로드하는 방식은 Claude의 context window를 효율적으로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L3 작업에서 논리 단계별 commit을 기본값으로 정한 것이 최근 결정(DR-accepted)입니다. 대형 변경의 리뷰 가능성, 추적성, 부분 rollback 경로를 높이기 위해서입니다. STATUS.md 변경은 위험 수준과 무관하게 항상 별도 승인 게이트를 통과해야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 세션 플로우: /start → /pick → /work → 실행 → CHECKPOINT (반복) → /done. /done은 세션 종료 시에만 실행합니다. 작업 하나가 끝날 때마다 /done을 실행하는 흔한 오해가 있는데, /done은 세션 전체 종료 시에만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Trigger는 자동 실행이 아닙니다. '이 조건이 발생했으니 이 문서를 업데이트하는 게 어떻습니까?' 라는 제안입니다. 사용자가 승인해야 실제로 반영됩니다. Loop 안전을 위해 trigger 결과가 같은 trigger를 즉시 재발동하지 않도록 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팀에서 어떤 도구를 쓰든 STATUS.md를 공통 기준점으로 사용합니다. Claude Code가 가장 강한 유도 구조를 가지고 있습니다. Cursor는 .mdc rules로 중간 수준, Codex는 bootstrap prompt 의존도가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주니어 개발자에게는 이 6단계 흐름만 알면 됩니다. CLAUDE.md나 AGENT-WORKFLOW.md를 직접 읽을 필요 없이, /start로 시작하고 Claude의 안내에 따라 진행하면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흔한 오해: /done을 작업 하나가 끝날 때마다 실행. /done은 세션 전체를 종료할 때만 씁니다. 작업 완료 후에는 CHECKPOINT(commit + STATUS 갱신)만 하고 /pick으로 다음 작업을 이어가면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 prefix는 어디서 왔는지를 바로 알 수 있게 해줍니다. P2-006은 Phase 2 product backlog 6번째 항목, HRN-001은 harness hardening 1번, DR-012는 Decision Record 12번입니다. 한번 배정한 ID는 다른 의미로 재사용하지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DR(Decision Record)은 '왜 이 결정을 했는가'를 기록하는 문서입니다. 미래의 나와 팀이 '왜 이렇게 됐지?'를 묻지 않도록 합니다. git history는 무엇이 바뀌었는지를 보여주지만, 왜 바뀌었는지는 DR에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Step 2의 3개 파일을 먼저 채우는 것입니다. STATUS.md, PLAN-SUMMARY.md, PHASE1.md만 채워두면 Claude가 첫 세션에서 /start로 현재 상태를 파악하고 /pick으로 첫 작업을 제안할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한계들은 v2에서 해결할 목표입니다. 과대평가하지 않는 것이 하네스 운영 원칙입니다. 현재 위치를 정확히 알아야 다음 개선 방향이 명확해집니다.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v2는 자동화를 한꺼번에 도입하는 게 아니라 단계적으로 진행합니다. 가장 먼저 Stop hook(HRN-001)을 강화하고, 그다음 validation script(HRN-002), CI 정합성 검사(HRN-003) 순서입니다. 팀 규모와 자동화 비용을 고려한 접근입니다.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Take-away를 다시 강조하면서 마무리합니다. AI 도구를 도입한다고 저절로 생산성이 오르지 않습니다. 하네스 같은 구조적 접근이 필요합니다. 이 구조는 팀에서 자유롭게 가져다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질문을 받습니다. 하네스를 자신의 프로젝트에 적용하고 싶으신 분은 create-harness.sh를 사용해 보세요. 리포지토리는 현재 Private이지만 완성도가 올라가면 Public으로 전환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1999" cy="6858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999" y="6642000"/>
            <a:ext cx="11941201" cy="216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753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Lightweight Manual-First</a:t>
            </a:r>
          </a:p>
          <a:p>
            <a:pPr algn="l"/>
            <a:r>
              <a:rPr sz="4200" b="1">
                <a:solidFill>
                  <a:srgbClr val="0FB5D0"/>
                </a:solidFill>
                <a:latin typeface="Arial"/>
              </a:rPr>
              <a:t>AI Workflow Harness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2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8D8"/>
                </a:solidFill>
                <a:latin typeface="Arial"/>
              </a:rPr>
              <a:t>개발팀 내부 발표  |  base-msa-template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6318000"/>
            <a:ext cx="1075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98B8"/>
                </a:solidFill>
                <a:latin typeface="Arial"/>
              </a:rPr>
              <a:t>박경서  ·  Kyungseo.Park@gmail.com  ·  v1.0  ·  2026-05-15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792000"/>
            <a:ext cx="2751300" cy="19800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900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332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AI 협업 방법론
개념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300" y="792000"/>
            <a:ext cx="2751300" cy="198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5300" y="900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5300" y="1332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프로젝트 개요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0600" y="792000"/>
            <a:ext cx="2751300" cy="1980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4600" y="900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4600" y="1332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AI Workflow
개선 여정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9900" y="792000"/>
            <a:ext cx="2751300" cy="198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900" y="900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900" y="1332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Harness v1
구조 소개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61650" y="2916000"/>
            <a:ext cx="2751300" cy="1980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5650" y="3024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650" y="3456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핵심 메커니즘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0950" y="2916000"/>
            <a:ext cx="2751300" cy="198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950" y="3024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950" y="3456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사용법 / 매뉴얼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0250" y="2916000"/>
            <a:ext cx="2751300" cy="19800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4250" y="3024000"/>
            <a:ext cx="24633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4250" y="3456000"/>
            <a:ext cx="24633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v2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 /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00 · AI 협업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AI 협업 방법론 진화 — 4가지 핵심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183300" y="1918800"/>
            <a:ext cx="72000" cy="50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368000"/>
            <a:ext cx="2769300" cy="1152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0" y="1476000"/>
            <a:ext cx="2589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① 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00" y="1998000"/>
            <a:ext cx="2589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자연어 의도 → AI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520000"/>
            <a:ext cx="2769300" cy="3240000"/>
          </a:xfrm>
          <a:prstGeom prst="rect">
            <a:avLst/>
          </a:prstGeom>
          <a:solidFill>
            <a:srgbClr val="D0F4FA"/>
          </a:solidFill>
          <a:ln w="9525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" y="270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직관적·빠른 프로토타입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342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코딩 지식 없이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00" y="414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규율·검증 부재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0600" y="1918800"/>
            <a:ext cx="72000" cy="50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300" y="1368000"/>
            <a:ext cx="2769300" cy="115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3300" y="1476000"/>
            <a:ext cx="2589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②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3300" y="1998000"/>
            <a:ext cx="2589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입력 설계로 출력 품질 제어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300" y="2520000"/>
            <a:ext cx="2769300" cy="3240000"/>
          </a:xfrm>
          <a:prstGeom prst="rect">
            <a:avLst/>
          </a:prstGeom>
          <a:solidFill>
            <a:srgbClr val="DBEB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3300" y="270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역할·형식·예시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3300" y="342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단발 요청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300" y="414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세션 간 일관성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7900" y="1918800"/>
            <a:ext cx="72000" cy="50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0600" y="1368000"/>
            <a:ext cx="2769300" cy="1152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0600" y="1476000"/>
            <a:ext cx="2589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③ Context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0600" y="1998000"/>
            <a:ext cx="2589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세션 전체 컨텍스트 구조화·관리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0600" y="2520000"/>
            <a:ext cx="2769300" cy="3240000"/>
          </a:xfrm>
          <a:prstGeom prst="rect">
            <a:avLst/>
          </a:prstGeom>
          <a:solidFill>
            <a:srgbClr val="C6F6D5"/>
          </a:solidFill>
          <a:ln w="9525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0600" y="270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상태 문서(STATUS.md) 체계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0600" y="342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멀티턴·멀티 에이전트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0600" y="414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도구 간 일관성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7900" y="1368000"/>
            <a:ext cx="2769300" cy="1152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7900" y="1476000"/>
            <a:ext cx="2589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④ Harness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7900" y="1998000"/>
            <a:ext cx="2589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운영 규율을 체계로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7900" y="2520000"/>
            <a:ext cx="2769300" cy="3240000"/>
          </a:xfrm>
          <a:prstGeom prst="rect">
            <a:avLst/>
          </a:prstGeom>
          <a:solidFill>
            <a:srgbClr val="FEF3D0"/>
          </a:solidFill>
          <a:ln w="9525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17900" y="270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상태 머신 + Risk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7900" y="342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승인 게이트·Stop Hook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7900" y="4140000"/>
            <a:ext cx="2589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▪ ★ 이 발표의 핵심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6000" y="5940000"/>
            <a:ext cx="11401200" cy="3420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00" y="5940000"/>
            <a:ext cx="11041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이 발표의 핵심: Harness Engineering = Prompt Eng + Context Eng + Workflow Guardrails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3 / 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00 · AI 협업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① Vibe Coding — 직관으로 코드를 만든다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11113200" cy="468000"/>
          </a:xfrm>
          <a:prstGeom prst="rect">
            <a:avLst/>
          </a:prstGeom>
          <a:solidFill>
            <a:srgbClr val="D0F4FA"/>
          </a:solidFill>
          <a:ln w="1270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22000"/>
            <a:ext cx="105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자연어로 의도를 표현하면 AI가 전체 코드를 생성. '이런 걸 만들고 싶어'라고 말하면 AI가 완성한다.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944000"/>
            <a:ext cx="5502600" cy="360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944000"/>
            <a:ext cx="5286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특징 &amp; 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376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▪ 코딩 지식 없이도 빠른 프로토타입 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898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▪ 아이디어를 즉시 구현으로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420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▪ 비개발자·기획자도 AI 협업에 진입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942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▪ 탐색적 개발에 탁월 — 방향 빠르게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464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▪ 반복 생산성 극대화 (특히 초안 단계)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600" y="1944000"/>
            <a:ext cx="5502600" cy="360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8600" y="1944000"/>
            <a:ext cx="5286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8600" y="2376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3535"/>
                </a:solidFill>
                <a:latin typeface="Arial"/>
              </a:rPr>
              <a:t>▪ 코드 품질·보안 검증 장치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8600" y="2898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3535"/>
                </a:solidFill>
                <a:latin typeface="Arial"/>
              </a:rPr>
              <a:t>▪ 변경 범위 통제 어려움 (scope creep)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8600" y="3420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3535"/>
                </a:solidFill>
                <a:latin typeface="Arial"/>
              </a:rPr>
              <a:t>▪ 컨텍스트 초기화 시 방향성 상실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8600" y="3942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3535"/>
                </a:solidFill>
                <a:latin typeface="Arial"/>
              </a:rPr>
              <a:t>▪ 팀 협업·코드 리뷰에 취약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8600" y="4464000"/>
            <a:ext cx="528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3535"/>
                </a:solidFill>
                <a:latin typeface="Arial"/>
              </a:rPr>
              <a:t>▪ 규율 없이 규모가 커지면 기술 부채 누적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5148000"/>
            <a:ext cx="11113200" cy="4680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5148000"/>
            <a:ext cx="1075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Vibe Coding은 훌륭한 시작점. 팀/프로덕션 수준 운영에는 Prompt·Context·Harness Engineering이 필요하다.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4 / 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00 · AI 협업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② Prompt Engineering  vs.  ③ Context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55026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368000"/>
            <a:ext cx="528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② Prompt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0600" y="1368000"/>
            <a:ext cx="5502600" cy="39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8600" y="1368000"/>
            <a:ext cx="528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③ Context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764000"/>
            <a:ext cx="5502600" cy="756000"/>
          </a:xfrm>
          <a:prstGeom prst="rect">
            <a:avLst/>
          </a:prstGeom>
          <a:solidFill>
            <a:srgbClr val="DBEBF8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0600" y="1764000"/>
            <a:ext cx="5502600" cy="756000"/>
          </a:xfrm>
          <a:prstGeom prst="rect">
            <a:avLst/>
          </a:prstGeom>
          <a:solidFill>
            <a:srgbClr val="C6F6D5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1764000"/>
            <a:ext cx="720000" cy="75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1944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정의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0600" y="1764000"/>
            <a:ext cx="720000" cy="75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0600" y="1944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2000" y="1818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AI 입력(프롬프트)을 최적화해 원하는 출력을 얻는 기술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2600" y="1818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AI 세션 전체에 걸쳐 컨텍스트를 구조화·관리해 일관된 협업을 유지하는 기술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2520000"/>
            <a:ext cx="5502600" cy="75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0600" y="2520000"/>
            <a:ext cx="5502600" cy="75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2520000"/>
            <a:ext cx="720000" cy="75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700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범위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600" y="2520000"/>
            <a:ext cx="720000" cy="75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0600" y="2700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2000" y="2574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단발 요청 / 단일 프롬프트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2600" y="2574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세션 전체 / 멀티턴 / 멀티 에이전트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276000"/>
            <a:ext cx="5502600" cy="756000"/>
          </a:xfrm>
          <a:prstGeom prst="rect">
            <a:avLst/>
          </a:prstGeom>
          <a:solidFill>
            <a:srgbClr val="DBEBF8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0600" y="3276000"/>
            <a:ext cx="5502600" cy="756000"/>
          </a:xfrm>
          <a:prstGeom prst="rect">
            <a:avLst/>
          </a:prstGeom>
          <a:solidFill>
            <a:srgbClr val="C6F6D5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000" y="3276000"/>
            <a:ext cx="720000" cy="75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3456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방법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0600" y="3276000"/>
            <a:ext cx="720000" cy="75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0600" y="3456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2000" y="3330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역할 부여, 예시 제공, 형식 지정, CoT 유도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2600" y="3330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STATUS.md, AGENT-WORKFLOW.md, 계층적 문서 로딩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4032000"/>
            <a:ext cx="5502600" cy="75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0600" y="4032000"/>
            <a:ext cx="5502600" cy="75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0000" y="4032000"/>
            <a:ext cx="720000" cy="75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000" y="4212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결과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0600" y="4032000"/>
            <a:ext cx="720000" cy="75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0600" y="4212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2000" y="4086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더 정확한 단일 응답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2600" y="4086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세션이 달라져도 일관된 AI 응답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" y="4788000"/>
            <a:ext cx="5502600" cy="756000"/>
          </a:xfrm>
          <a:prstGeom prst="rect">
            <a:avLst/>
          </a:prstGeom>
          <a:solidFill>
            <a:srgbClr val="DBEBF8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0600" y="4788000"/>
            <a:ext cx="5502600" cy="756000"/>
          </a:xfrm>
          <a:prstGeom prst="rect">
            <a:avLst/>
          </a:prstGeom>
          <a:solidFill>
            <a:srgbClr val="C6F6D5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0000" y="4788000"/>
            <a:ext cx="720000" cy="75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000" y="4968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한계/강점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50600" y="4788000"/>
            <a:ext cx="720000" cy="75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50600" y="4968000"/>
            <a:ext cx="7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한계/강점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2000" y="4842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세션 간 일관성 없음, 매번 같은 설명 반복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2600" y="4842000"/>
            <a:ext cx="4638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컨텍스트 낭비 없음, 도구 간 일관성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0000" y="5652000"/>
            <a:ext cx="11113200" cy="4320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0000" y="5652000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 Engineering = Prompt Engineering의 확장. 개별 요청 최적화 → 전체 세션·도구 운영 체계로.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5 / 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00 · AI 협업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④ Harness Engineering — 이 발표의 핵심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11113200" cy="4320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04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Prompt Engineering + Context Engineering + Workflow Guardrails = 재현 가능한 AI 협업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908000"/>
            <a:ext cx="3464400" cy="72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908000"/>
            <a:ext cx="3248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② Prompt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268000"/>
            <a:ext cx="3248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개별 요청 품질 제어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628000"/>
            <a:ext cx="3464400" cy="1980000"/>
          </a:xfrm>
          <a:prstGeom prst="rect">
            <a:avLst/>
          </a:prstGeom>
          <a:solidFill>
            <a:srgbClr val="DBEB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2700000"/>
            <a:ext cx="3248400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• Slash Commands — 9개 workflow 명령어
• Task Prompts — 23개 task 전용 prompt
• 역할·형식·예시·CoT 패턴 표준화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4400" y="1908000"/>
            <a:ext cx="3464400" cy="72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2400" y="1908000"/>
            <a:ext cx="3248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③ 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400" y="2268000"/>
            <a:ext cx="3248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세션·도구 간 일관성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4400" y="2628000"/>
            <a:ext cx="3464400" cy="1980000"/>
          </a:xfrm>
          <a:prstGeom prst="rect">
            <a:avLst/>
          </a:prstGeom>
          <a:solidFill>
            <a:srgbClr val="C6F6D5"/>
          </a:solidFill>
          <a:ln w="9525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400" y="2700000"/>
            <a:ext cx="3248400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• STATUS.md — 라이브 상태판
• AGENT-WORKFLOW.md — 공통 운영 규칙
• 계층적 문서 로딩 전략 (조건부 로드)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800" y="1908000"/>
            <a:ext cx="3464400" cy="72000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800" y="1908000"/>
            <a:ext cx="3248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Workflow 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800" y="2268000"/>
            <a:ext cx="3248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실행 규율·승인 게이트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8800" y="2628000"/>
            <a:ext cx="3464400" cy="1980000"/>
          </a:xfrm>
          <a:prstGeom prst="rect">
            <a:avLst/>
          </a:prstGeom>
          <a:solidFill>
            <a:srgbClr val="FEEBEB"/>
          </a:solidFill>
          <a:ln w="9525">
            <a:solidFill>
              <a:srgbClr val="C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6800" y="2700000"/>
            <a:ext cx="3248400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• 상태 머신: Plan→Approval→Execute→Validate
• Risk Gate: L1/L2/L3 변경 통제
• Stop Hook — /done 없이 종료 차단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4400" y="316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  <a:latin typeface="Arial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8800" y="316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  <a:latin typeface="Arial"/>
              </a:rPr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0600" y="4608000"/>
            <a:ext cx="72000" cy="324000"/>
          </a:xfrm>
          <a:prstGeom prst="rect">
            <a:avLst/>
          </a:prstGeom>
          <a:solidFill>
            <a:srgbClr val="5C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600" y="486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4DB0"/>
                </a:solidFill>
                <a:latin typeface="Arial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40000" y="5184000"/>
            <a:ext cx="9313200" cy="972000"/>
          </a:xfrm>
          <a:prstGeom prst="rect">
            <a:avLst/>
          </a:prstGeom>
          <a:solidFill>
            <a:srgbClr val="1A2B4A"/>
          </a:solidFill>
          <a:ln w="2540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0000" y="5292000"/>
            <a:ext cx="89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Harness v1: Lightweight Manual-First AI Workflow Harness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0000" y="5688000"/>
            <a:ext cx="89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B5D0"/>
                </a:solidFill>
                <a:latin typeface="Arial"/>
              </a:rPr>
              <a:t>Plan → Approval → Execute → Validate  ·  Claude / Cursor / Codex 공통 운영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6 / 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01 ·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두 개의 축으로 이루어진 프로젝트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512000"/>
            <a:ext cx="5220000" cy="3780000"/>
          </a:xfrm>
          <a:prstGeom prst="rect">
            <a:avLst/>
          </a:prstGeom>
          <a:solidFill>
            <a:srgbClr val="DBEBF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512000"/>
            <a:ext cx="52200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512000"/>
            <a:ext cx="50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AI Workflow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80000"/>
            <a:ext cx="48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rial"/>
              </a:rPr>
              <a:t>주 목적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AI 도구를 안전하고 반복 가능하게 운영하는 체계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Claude Code / Cursor / Codex 공통 운영 규칙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Plan → Approval → Execute → Validate 상태 머신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문서 생태계 + Slash Commands + Scaffolding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1512000"/>
            <a:ext cx="5220000" cy="3780000"/>
          </a:xfrm>
          <a:prstGeom prst="rect">
            <a:avLst/>
          </a:prstGeom>
          <a:solidFill>
            <a:srgbClr val="C6F6D5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1512000"/>
            <a:ext cx="5220000" cy="39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1512000"/>
            <a:ext cx="50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Spring Boot MSA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1980000"/>
            <a:ext cx="48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A169"/>
                </a:solidFill>
                <a:latin typeface="Arial"/>
              </a:rPr>
              <a:t>실제 검증 플랫폼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Java 21 + Spring Boot 3.5.x 기반 MSA 구조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Phase 1 완료 (auth/user/todo 서비스)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실무 복잡도에서 하네스를 검증하는 용도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▪ 완성 후 Public 전환 예정 (현재 Private)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5400000"/>
            <a:ext cx="10980000" cy="30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5418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Arial"/>
              </a:rPr>
              <a:t>🔗  github.com/kyungseo/base-msa-template  (현재 Private → 완성도 검증 후 Public 전환 예정)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7 /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01 ·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MSA 아키텍처 구성도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68000"/>
            <a:ext cx="9313200" cy="900000"/>
          </a:xfrm>
          <a:prstGeom prst="rect">
            <a:avLst/>
          </a:prstGeom>
          <a:solidFill>
            <a:srgbClr val="DBEBF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40000" y="1368000"/>
            <a:ext cx="1260000" cy="90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4000" y="1368000"/>
            <a:ext cx="118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000" y="1368000"/>
            <a:ext cx="7801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Frontend (Vanilla JS + Bootstrap)  :3000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8600" y="2268000"/>
            <a:ext cx="36000" cy="180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40000" y="2448000"/>
            <a:ext cx="9313200" cy="900000"/>
          </a:xfrm>
          <a:prstGeom prst="rect">
            <a:avLst/>
          </a:prstGeom>
          <a:solidFill>
            <a:srgbClr val="D0F4FA"/>
          </a:solidFill>
          <a:ln w="1905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000" y="2448000"/>
            <a:ext cx="1260000" cy="900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4000" y="2448000"/>
            <a:ext cx="118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Gateway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8000" y="2448000"/>
            <a:ext cx="7801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api-gateway (Spring Cloud Gateway)  :8090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8600" y="3348000"/>
            <a:ext cx="36000" cy="180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40000" y="3528000"/>
            <a:ext cx="9313200" cy="900000"/>
          </a:xfrm>
          <a:prstGeom prst="rect">
            <a:avLst/>
          </a:prstGeom>
          <a:solidFill>
            <a:srgbClr val="C6F6D5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0000" y="3528000"/>
            <a:ext cx="1260000" cy="90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4000" y="3528000"/>
            <a:ext cx="118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Service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000" y="3528000"/>
            <a:ext cx="7801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auth-service :8091  |  user-service :8092  |  todo-service :8093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8600" y="4428000"/>
            <a:ext cx="36000" cy="180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40000" y="4608000"/>
            <a:ext cx="9313200" cy="900000"/>
          </a:xfrm>
          <a:prstGeom prst="rect">
            <a:avLst/>
          </a:prstGeom>
          <a:solidFill>
            <a:srgbClr val="EEF2F7"/>
          </a:solidFill>
          <a:ln w="1905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0000" y="4608000"/>
            <a:ext cx="1260000" cy="900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4000" y="4608000"/>
            <a:ext cx="118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8000" y="4608000"/>
            <a:ext cx="7801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  <a:latin typeface="Arial"/>
              </a:rPr>
              <a:t>PostgreSQL 16  :5432                  Redis  :6379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5652000"/>
            <a:ext cx="93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B5D0"/>
                </a:solidFill>
                <a:latin typeface="Arial"/>
              </a:rPr>
              <a:t>Gateway: JWT 서명 검증 → Blacklist 확인 → X-User-Id / X-User-Role 헤더 주입 → 라우팅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8 / 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01 ·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1368000"/>
            <a:ext cx="2520000" cy="36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000" y="1368000"/>
            <a:ext cx="7920000" cy="36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2000" y="136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2000" y="1368000"/>
            <a:ext cx="77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기술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1728000"/>
            <a:ext cx="25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000" y="1728000"/>
            <a:ext cx="79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172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8000" y="172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Java 21  (Virtual Threads 활성화)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2088000"/>
            <a:ext cx="25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000" y="2088000"/>
            <a:ext cx="79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000" y="208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8000" y="208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Spring Boot 3.5.x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2448000"/>
            <a:ext cx="25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0000" y="2448000"/>
            <a:ext cx="79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8000" y="244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8000" y="244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Gradle 8.x  (Kotlin DSL · libs.versions.toml)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" y="2808000"/>
            <a:ext cx="25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0000" y="2808000"/>
            <a:ext cx="79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000" y="280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8000" y="280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Spring Cloud Gateway  (WebFlux)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" y="3168000"/>
            <a:ext cx="25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0000" y="3168000"/>
            <a:ext cx="79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000" y="316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8000" y="316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Spring Security 6.5  +  JJWT 0.12.x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000" y="3528000"/>
            <a:ext cx="25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0000" y="3528000"/>
            <a:ext cx="79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000" y="352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Token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0" y="352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Redis  (Refresh Token · Blacklist · Rate Limiting)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000" y="3888000"/>
            <a:ext cx="25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20000" y="3888000"/>
            <a:ext cx="79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000" y="388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0" y="388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MyBatis 3.x  (XML Mapper)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000" y="4248000"/>
            <a:ext cx="25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0000" y="4248000"/>
            <a:ext cx="79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000" y="424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424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PostgreSQL 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000" y="4608000"/>
            <a:ext cx="25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20000" y="4608000"/>
            <a:ext cx="79200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8000" y="460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8000" y="460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GitHub Actions  (Checkstyle → test 체인)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000" y="4968000"/>
            <a:ext cx="25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20000" y="4968000"/>
            <a:ext cx="79200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000" y="496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8000" y="4968000"/>
            <a:ext cx="77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Testcontainers  (P2-006에서 활성화 완료)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9 / 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02 · 개선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왜 AI Workflow Harness가 필요했나?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5580000" cy="1908000"/>
          </a:xfrm>
          <a:prstGeom prst="rect">
            <a:avLst/>
          </a:prstGeom>
          <a:solidFill>
            <a:srgbClr val="FEEBEB"/>
          </a:solidFill>
          <a:ln w="1270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5580000" cy="360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4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✕  세션마다 같은 설명 반복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1853999"/>
            <a:ext cx="52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Claude는 매 세션 상태를 초기화합니다. Context를 관리하지 않으면
토큰을 낭비하고 이전 작업 맥락을 잃습니다.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8000" y="1440000"/>
            <a:ext cx="5580000" cy="1908000"/>
          </a:xfrm>
          <a:prstGeom prst="rect">
            <a:avLst/>
          </a:prstGeom>
          <a:solidFill>
            <a:srgbClr val="FEEBEB"/>
          </a:solidFill>
          <a:ln w="1270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8000" y="1440000"/>
            <a:ext cx="5580000" cy="360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000" y="14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✕  승인 없이 범위를 넘는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1853999"/>
            <a:ext cx="52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"파일 하나만 수정해줘" 했는데 Claude가 관련 없는 파일까지
리팩터링하거나, 위험한 변경을 즉시 실행하는 문제.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528000"/>
            <a:ext cx="5580000" cy="1908000"/>
          </a:xfrm>
          <a:prstGeom prst="rect">
            <a:avLst/>
          </a:prstGeom>
          <a:solidFill>
            <a:srgbClr val="FEEBEB"/>
          </a:solidFill>
          <a:ln w="1270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0000" y="3528000"/>
            <a:ext cx="5580000" cy="360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352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✕  결정 사항이 사라짐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3941999"/>
            <a:ext cx="52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다음 세션에서 "왜 이 구조가 됐지?", "왜 이 라이브러리를
골랐지?" 를 반복해서 묻게 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8000" y="3528000"/>
            <a:ext cx="5580000" cy="1908000"/>
          </a:xfrm>
          <a:prstGeom prst="rect">
            <a:avLst/>
          </a:prstGeom>
          <a:solidFill>
            <a:srgbClr val="FEEBEB"/>
          </a:solidFill>
          <a:ln w="1270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8000" y="3528000"/>
            <a:ext cx="5580000" cy="360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000" y="352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✕  AI 도구 간 동작 불일치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3941999"/>
            <a:ext cx="52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Claude Code에서 설정한 규칙이 Cursor나 Codex에서는
적용되지 않는 문제.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10 /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02 · 개선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개선 과정 — 진화 타임라인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2600" y="1728000"/>
            <a:ext cx="2520000" cy="1620000"/>
          </a:xfrm>
          <a:prstGeom prst="rect">
            <a:avLst/>
          </a:prstGeom>
          <a:solidFill>
            <a:srgbClr val="EEF2F7"/>
          </a:solidFill>
          <a:ln w="1905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2600" y="1728000"/>
            <a:ext cx="2520000" cy="396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2600" y="172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Phase 1
초기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600" y="219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02C"/>
                </a:solidFill>
                <a:latin typeface="Arial"/>
              </a:rPr>
              <a:t>CLAUDE.md만
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00" y="2988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18096"/>
                </a:solidFill>
                <a:latin typeface="Arial"/>
              </a:rPr>
              <a:t>"내용 있음"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600" y="2502000"/>
            <a:ext cx="216000" cy="72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8600" y="1728000"/>
            <a:ext cx="2520000" cy="1620000"/>
          </a:xfrm>
          <a:prstGeom prst="rect">
            <a:avLst/>
          </a:prstGeom>
          <a:solidFill>
            <a:srgbClr val="DBEBF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8600" y="1728000"/>
            <a:ext cx="25200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8600" y="172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Phase 1
중반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6600" y="219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02C"/>
                </a:solidFill>
                <a:latin typeface="Arial"/>
              </a:rPr>
              <a:t>Task prompt
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0600" y="2988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B6CB0"/>
                </a:solidFill>
                <a:latin typeface="Arial"/>
              </a:rPr>
              <a:t>"규칙 있음"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8600" y="2502000"/>
            <a:ext cx="216000" cy="72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4600" y="1728000"/>
            <a:ext cx="2520000" cy="1620000"/>
          </a:xfrm>
          <a:prstGeom prst="rect">
            <a:avLst/>
          </a:prstGeom>
          <a:solidFill>
            <a:srgbClr val="D0F4FA"/>
          </a:solidFill>
          <a:ln w="1905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600" y="1728000"/>
            <a:ext cx="2520000" cy="396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4600" y="172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Harness
Refactor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600" y="219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02C"/>
                </a:solidFill>
                <a:latin typeface="Arial"/>
              </a:rPr>
              <a:t>상태머신 +
backlog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600" y="2988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B5D0"/>
                </a:solidFill>
                <a:latin typeface="Arial"/>
              </a:rPr>
              <a:t>"구조 있음"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24600" y="2502000"/>
            <a:ext cx="216000" cy="72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0600" y="1728000"/>
            <a:ext cx="2520000" cy="1620000"/>
          </a:xfrm>
          <a:prstGeom prst="rect">
            <a:avLst/>
          </a:prstGeom>
          <a:solidFill>
            <a:srgbClr val="FDF0D0"/>
          </a:solidFill>
          <a:ln w="1905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0600" y="1728000"/>
            <a:ext cx="2520000" cy="396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0600" y="172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v1
현재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600" y="219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02C"/>
                </a:solidFill>
                <a:latin typeface="Arial"/>
              </a:rPr>
              <a:t>경량 harness
v1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2600" y="2988000"/>
            <a:ext cx="2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6A623"/>
                </a:solidFill>
                <a:latin typeface="Arial"/>
              </a:rPr>
              <a:t>"★ 체계 있음"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3600000"/>
            <a:ext cx="11113200" cy="468000"/>
          </a:xfrm>
          <a:prstGeom prst="rect">
            <a:avLst/>
          </a:prstGeom>
          <a:solidFill>
            <a:srgbClr val="FDF0D0"/>
          </a:solidFill>
          <a:ln w="1905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3654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Arial"/>
              </a:rPr>
              <a:t>⭐  2026-05-14 대규모 리팩토링 (HRF-001 완료) — STATUS live board 축소 · backlog 분리 · 상태머신 정렬 · Scaffolding 추가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4176000"/>
            <a:ext cx="11113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Arial"/>
              </a:rPr>
              <a:t>핵심 교훈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문서만 늘린다고 해결되지 않는다 — 문서 역할 분리가 먼저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규칙은 있어도 상태 기준점(STATUS.md)이 없으면 세션 간 continuity가 깨진다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여러 AI 도구를 쓸 때 공통 진입점이 없으면 규칙이 분산된다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11 / 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02 · 개선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Harness v1 달성 수준 — 정직한 자체 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16600" y="1440000"/>
            <a:ext cx="2160000" cy="57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96600" y="1440000"/>
            <a:ext cx="1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상위 5%  —  Hook / CI 자동화로 규칙 강제 (production-grade)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6600" y="2070000"/>
            <a:ext cx="3600000" cy="576000"/>
          </a:xfrm>
          <a:prstGeom prst="rect">
            <a:avLst/>
          </a:prstGeom>
          <a:solidFill>
            <a:srgbClr val="F6A623"/>
          </a:solidFill>
          <a:ln w="3175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6600" y="2070000"/>
            <a:ext cx="32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Arial"/>
              </a:rPr>
              <a:t>상위 10~15%  —  Slash Commands + STATUS + DR + backlog (★ 현재)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6600" y="2700000"/>
            <a:ext cx="5040000" cy="57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6600" y="2700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상위 15%  —  Slash Commands + STATUS + DR + backlog 있음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6600" y="3330000"/>
            <a:ext cx="7200000" cy="576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6600" y="3330000"/>
            <a:ext cx="68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중간 40%  —  Task prompt + 기본 backlog / plan 문서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6600" y="3960000"/>
            <a:ext cx="9360000" cy="57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6600" y="3960000"/>
            <a:ext cx="90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하위 40%  —  CLAUDE.md만 있거나 README / 메모 수준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5220000"/>
            <a:ext cx="11113200" cy="900000"/>
          </a:xfrm>
          <a:prstGeom prst="rect">
            <a:avLst/>
          </a:prstGeom>
          <a:solidFill>
            <a:srgbClr val="FDF0D0"/>
          </a:solidFill>
          <a:ln w="1905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529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Arial"/>
              </a:rPr>
              <a:t>Lightweight Manual-First AI Workflow Harness v1</a:t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Arial"/>
              </a:rPr>
              <a:t>문서 현행화보다 위  ·  자동화 엔진보다 아래  ·  실전에서 꽤 쓸 만한 운영 체계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12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03 ·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핵심 정의 &amp; 4대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11113200" cy="792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368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B5D0"/>
                </a:solidFill>
                <a:latin typeface="Arial"/>
              </a:rPr>
              <a:t>"경량 상태 머신 기반 운영 체계 — Plan → Approval → Execute → Validate"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40000"/>
            <a:ext cx="5376600" cy="1728000"/>
          </a:xfrm>
          <a:prstGeom prst="rect">
            <a:avLst/>
          </a:prstGeom>
          <a:solidFill>
            <a:srgbClr val="DBEB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5376600" cy="34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2340000"/>
            <a:ext cx="5232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 is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736000"/>
            <a:ext cx="51606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STATUS.md에서 시작해 필요한 파일만 순서대로 로드.
전체 repo를 먼저 스캔하지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600" y="2340000"/>
            <a:ext cx="5376600" cy="1728000"/>
          </a:xfrm>
          <a:prstGeom prst="rect">
            <a:avLst/>
          </a:prstGeom>
          <a:solidFill>
            <a:srgbClr val="DBEB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600" y="2340000"/>
            <a:ext cx="5376600" cy="34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4600" y="2340000"/>
            <a:ext cx="5232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Plan Before 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4600" y="2736000"/>
            <a:ext cx="51606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구현·문서 변경 전에 Scope / Files / Risk / Reversal Cost를
포함한 plan을 먼저 보고하고 승인받는다.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4212000"/>
            <a:ext cx="5376600" cy="1728000"/>
          </a:xfrm>
          <a:prstGeom prst="rect">
            <a:avLst/>
          </a:prstGeom>
          <a:solidFill>
            <a:srgbClr val="DBEB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000" y="4212000"/>
            <a:ext cx="5376600" cy="34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4212000"/>
            <a:ext cx="5232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Status Always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4608000"/>
            <a:ext cx="51606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작업 상태가 바뀌면 docs/STATUS.md를 갱신한다.
변경 전 STATUS Update Proposal → 사용자 승인 필수.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600" y="4212000"/>
            <a:ext cx="5376600" cy="1728000"/>
          </a:xfrm>
          <a:prstGeom prst="rect">
            <a:avLst/>
          </a:prstGeom>
          <a:solidFill>
            <a:srgbClr val="DBEB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600" y="4212000"/>
            <a:ext cx="5376600" cy="34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4600" y="4212000"/>
            <a:ext cx="5232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Surgical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4600" y="4608000"/>
            <a:ext cx="51606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요청된 최소 범위만 변경한다.
리팩터링·최적화는 별도 작업으로 분리한다.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13 / 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03 ·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일반 구성 vs Harness v1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2160000" cy="39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440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0000" y="1440000"/>
            <a:ext cx="36000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2000" y="1440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일반 상위 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1440000"/>
            <a:ext cx="5353200" cy="396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0" y="1440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Harness v1  (현재)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836000"/>
            <a:ext cx="216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1836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상태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0" y="1836000"/>
            <a:ext cx="360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2000" y="1836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STATUS.md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836000"/>
            <a:ext cx="53532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1836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A169"/>
                </a:solidFill>
                <a:latin typeface="Arial"/>
              </a:rPr>
              <a:t>Live board로 축소 + Approval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2232000"/>
            <a:ext cx="216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2232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문서 역할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0" y="2232000"/>
            <a:ext cx="360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2000" y="2232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혼재 (한 파일에 다 있음)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2232000"/>
            <a:ext cx="53532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000" y="2232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A169"/>
                </a:solidFill>
                <a:latin typeface="Arial"/>
              </a:rPr>
              <a:t>backlog / protocol / manual 분리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2628000"/>
            <a:ext cx="216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" y="2628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작업 흐름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0000" y="2628000"/>
            <a:ext cx="360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2000" y="2628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task prompt 실행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000" y="2628000"/>
            <a:ext cx="53532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2000" y="2628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A169"/>
                </a:solidFill>
                <a:latin typeface="Arial"/>
              </a:rPr>
              <a:t>상태 머신 + L1/L2/L3 Risk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3024000"/>
            <a:ext cx="216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000" y="3024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멀티 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3024000"/>
            <a:ext cx="360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2000" y="3024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주로 Claude 단독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000" y="3024000"/>
            <a:ext cx="53532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2000" y="3024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A169"/>
                </a:solidFill>
                <a:latin typeface="Arial"/>
              </a:rPr>
              <a:t>Claude + Cursor + Codex 공통 규칙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3420000"/>
            <a:ext cx="216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000" y="3420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Scaffolding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00000" y="3420000"/>
            <a:ext cx="360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2000" y="3420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없음 (수동 복사)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000" y="3420000"/>
            <a:ext cx="53532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2000" y="3420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A169"/>
                </a:solidFill>
                <a:latin typeface="Arial"/>
              </a:rPr>
              <a:t>create-harness.sh (generic / spring-boot)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" y="3816000"/>
            <a:ext cx="216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000" y="3816000"/>
            <a:ext cx="20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강제력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00000" y="3816000"/>
            <a:ext cx="360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2000" y="3816000"/>
            <a:ext cx="34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Agent 개인 규율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0000" y="3816000"/>
            <a:ext cx="53532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2000" y="3816000"/>
            <a:ext cx="52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A169"/>
                </a:solidFill>
                <a:latin typeface="Arial"/>
              </a:rPr>
              <a:t>Manual-first (v2에서 자동화 예정)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14 / 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03 ·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디렉토리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Courier New"/>
              </a:rPr>
              <a:t>project-root/</a:t>
            </a:r>
          </a:p>
          <a:p>
            <a:r>
              <a:rPr sz="1300" b="1">
                <a:solidFill>
                  <a:srgbClr val="F6A623"/>
                </a:solidFill>
                <a:latin typeface="Courier New"/>
              </a:rPr>
              <a:t>├── CLAUDE.md</a:t>
            </a:r>
          </a:p>
          <a:p>
            <a:r>
              <a:rPr sz="1100" b="0">
                <a:solidFill>
                  <a:srgbClr val="718096"/>
                </a:solidFill>
                <a:latin typeface="Courier New"/>
              </a:rPr>
              <a:t>│     Claude Code 자동로드 진입점</a:t>
            </a:r>
          </a:p>
          <a:p>
            <a:r>
              <a:rPr sz="1300" b="1">
                <a:solidFill>
                  <a:srgbClr val="F6A623"/>
                </a:solidFill>
                <a:latin typeface="Courier New"/>
              </a:rPr>
              <a:t>├── AGENTS.md</a:t>
            </a:r>
          </a:p>
          <a:p>
            <a:r>
              <a:rPr sz="1100" b="0">
                <a:solidFill>
                  <a:srgbClr val="718096"/>
                </a:solidFill>
                <a:latin typeface="Courier New"/>
              </a:rPr>
              <a:t>│     Codex 진입점</a:t>
            </a:r>
          </a:p>
          <a:p>
            <a:r>
              <a:rPr sz="1300" b="1">
                <a:solidFill>
                  <a:srgbClr val="1A2B4A"/>
                </a:solidFill>
                <a:latin typeface="Courier New"/>
              </a:rPr>
              <a:t>├── docs/</a:t>
            </a:r>
          </a:p>
          <a:p>
            <a:r>
              <a:rPr sz="1300" b="1">
                <a:solidFill>
                  <a:srgbClr val="38A169"/>
                </a:solidFill>
                <a:latin typeface="Courier New"/>
              </a:rPr>
              <a:t>│   ├── STATUS.md  ★</a:t>
            </a:r>
          </a:p>
          <a:p>
            <a:r>
              <a:rPr sz="1100" b="0">
                <a:solidFill>
                  <a:srgbClr val="718096"/>
                </a:solidFill>
                <a:latin typeface="Courier New"/>
              </a:rPr>
              <a:t>│   │     라이브 상태판 (단일 기준점)</a:t>
            </a:r>
          </a:p>
          <a:p>
            <a:r>
              <a:rPr sz="1200" b="0">
                <a:solidFill>
                  <a:srgbClr val="2B6CB0"/>
                </a:solidFill>
                <a:latin typeface="Courier New"/>
              </a:rPr>
              <a:t>│   ├── AGENT-WORKFLOW.md</a:t>
            </a:r>
          </a:p>
          <a:p>
            <a:r>
              <a:rPr sz="1200" b="1">
                <a:solidFill>
                  <a:srgbClr val="0FB5D0"/>
                </a:solidFill>
                <a:latin typeface="Courier New"/>
              </a:rPr>
              <a:t>│   ├── HARNESS-PROTOCOL.md</a:t>
            </a:r>
          </a:p>
          <a:p>
            <a:r>
              <a:rPr sz="1200" b="0">
                <a:solidFill>
                  <a:srgbClr val="0FB5D0"/>
                </a:solidFill>
                <a:latin typeface="Courier New"/>
              </a:rPr>
              <a:t>│   ├── HARNESS-QUICK-REFERENCE.md</a:t>
            </a:r>
          </a:p>
          <a:p>
            <a:r>
              <a:rPr sz="1200" b="0">
                <a:solidFill>
                  <a:srgbClr val="2B6CB0"/>
                </a:solidFill>
                <a:latin typeface="Courier New"/>
              </a:rPr>
              <a:t>│   ├── WORKFLOW-MANUAL.md</a:t>
            </a:r>
          </a:p>
          <a:p>
            <a:r>
              <a:rPr sz="1200" b="0">
                <a:solidFill>
                  <a:srgbClr val="0FB5D0"/>
                </a:solidFill>
                <a:latin typeface="Courier New"/>
              </a:rPr>
              <a:t>│   ├── harness-protocol/ (01~06 상세 규칙)</a:t>
            </a:r>
          </a:p>
          <a:p>
            <a:r>
              <a:rPr sz="1200" b="0">
                <a:solidFill>
                  <a:srgbClr val="2B6CB0"/>
                </a:solidFill>
                <a:latin typeface="Courier New"/>
              </a:rPr>
              <a:t>│   ├── backlog/ (PHASE{n}.md · HARNESS.md)</a:t>
            </a:r>
          </a:p>
          <a:p>
            <a:r>
              <a:rPr sz="1200" b="0">
                <a:solidFill>
                  <a:srgbClr val="2B6CB0"/>
                </a:solidFill>
                <a:latin typeface="Courier New"/>
              </a:rPr>
              <a:t>│   ├── decisions/ (DR-*.md)</a:t>
            </a:r>
          </a:p>
          <a:p>
            <a:r>
              <a:rPr sz="1200" b="0">
                <a:solidFill>
                  <a:srgbClr val="718096"/>
                </a:solidFill>
                <a:latin typeface="Courier New"/>
              </a:rPr>
              <a:t>│   └── archive/ · retrospectives/ · troubleshooting/</a:t>
            </a:r>
          </a:p>
          <a:p>
            <a:r>
              <a:rPr sz="1200" b="1">
                <a:solidFill>
                  <a:srgbClr val="8050B0"/>
                </a:solidFill>
                <a:latin typeface="Courier New"/>
              </a:rPr>
              <a:t>├── .claude/commands/ (/start /pick /work /done 등 9개)</a:t>
            </a:r>
          </a:p>
          <a:p>
            <a:r>
              <a:rPr sz="1200" b="0">
                <a:solidFill>
                  <a:srgbClr val="8050B0"/>
                </a:solidFill>
                <a:latin typeface="Courier New"/>
              </a:rPr>
              <a:t>├── .claude/rules/ (5개 guardrail)</a:t>
            </a:r>
          </a:p>
          <a:p>
            <a:r>
              <a:rPr sz="1200" b="0">
                <a:solidFill>
                  <a:srgbClr val="8050B0"/>
                </a:solidFill>
                <a:latin typeface="Courier New"/>
              </a:rPr>
              <a:t>├── .cursor/rules/ (10개 mdc)</a:t>
            </a:r>
          </a:p>
          <a:p>
            <a:r>
              <a:rPr sz="1200" b="0">
                <a:solidFill>
                  <a:srgbClr val="8050B0"/>
                </a:solidFill>
                <a:latin typeface="Courier New"/>
              </a:rPr>
              <a:t>└── prompts/ (23개 task prompt)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6210000"/>
            <a:ext cx="11113200" cy="10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6282000"/>
            <a:ext cx="144000" cy="144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6282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Arial"/>
              </a:rPr>
              <a:t>자동 로드 진입점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8000" y="6282000"/>
            <a:ext cx="144000" cy="144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8000" y="6282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Arial"/>
              </a:rPr>
              <a:t>라이브 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6000" y="6282000"/>
            <a:ext cx="144000" cy="144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6000" y="6282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Arial"/>
              </a:rPr>
              <a:t>하네스 프로토콜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44000" y="6282000"/>
            <a:ext cx="144000" cy="144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000" y="6282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Arial"/>
              </a:rPr>
              <a:t>아키텍처·운영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12000" y="6282000"/>
            <a:ext cx="144000" cy="1440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92000" y="6282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Arial"/>
              </a:rPr>
              <a:t>AI 실행 표면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15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03 ·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문서 생태계 — 역할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24000"/>
            <a:ext cx="3708000" cy="2268000"/>
          </a:xfrm>
          <a:prstGeom prst="rect">
            <a:avLst/>
          </a:prstGeom>
          <a:solidFill>
            <a:srgbClr val="DBEBF8"/>
          </a:solidFill>
          <a:ln w="1524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224000"/>
            <a:ext cx="3708000" cy="324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35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AI 실행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94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AGENTS.md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30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AGENT-WORKFLOW.md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66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HARNESS-PROTOCOL.md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302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harness-protocol/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38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.claude/rules/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4000" y="1224000"/>
            <a:ext cx="3708000" cy="2268000"/>
          </a:xfrm>
          <a:prstGeom prst="rect">
            <a:avLst/>
          </a:prstGeom>
          <a:solidFill>
            <a:srgbClr val="C6F6D5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4000" y="1224000"/>
            <a:ext cx="3708000" cy="324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1224000"/>
            <a:ext cx="35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현재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2000" y="158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STATUS.md  (live board)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2000" y="230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단일 기준점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6000" y="1224000"/>
            <a:ext cx="3708000" cy="2268000"/>
          </a:xfrm>
          <a:prstGeom prst="rect">
            <a:avLst/>
          </a:prstGeom>
          <a:solidFill>
            <a:srgbClr val="D0F4FA"/>
          </a:solidFill>
          <a:ln w="1524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6000" y="1224000"/>
            <a:ext cx="3708000" cy="324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4000" y="1224000"/>
            <a:ext cx="35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작업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4000" y="158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backlog/PHASE{n}.md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000" y="194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backlog/HARNESS.md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000" y="230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decisions/DR-*.md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3600000"/>
            <a:ext cx="3708000" cy="2268000"/>
          </a:xfrm>
          <a:prstGeom prst="rect">
            <a:avLst/>
          </a:prstGeom>
          <a:solidFill>
            <a:srgbClr val="DBEBF8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000" y="3600000"/>
            <a:ext cx="3708000" cy="324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3600000"/>
            <a:ext cx="35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아키텍처 문서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396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PLAN.md (WHY)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432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ARCHITECTURE.md (WHAT)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468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DEVELOPER-GUIDE.md (HOW)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4000" y="3600000"/>
            <a:ext cx="3708000" cy="2268000"/>
          </a:xfrm>
          <a:prstGeom prst="rect">
            <a:avLst/>
          </a:prstGeom>
          <a:solidFill>
            <a:srgbClr val="FDF0D0"/>
          </a:solidFill>
          <a:ln w="1524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4000" y="3600000"/>
            <a:ext cx="3708000" cy="324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2000" y="3600000"/>
            <a:ext cx="35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사람용 매뉴얼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2000" y="396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WORKFLOW-MANUAL.md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2000" y="432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HARNESS-QUICK-REFERENCE.md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2000" y="468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prompts/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6000" y="3600000"/>
            <a:ext cx="3708000" cy="2268000"/>
          </a:xfrm>
          <a:prstGeom prst="rect">
            <a:avLst/>
          </a:prstGeom>
          <a:solidFill>
            <a:srgbClr val="EEF2F7"/>
          </a:solidFill>
          <a:ln w="1524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6000" y="3600000"/>
            <a:ext cx="3708000" cy="32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4000" y="3600000"/>
            <a:ext cx="35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4000" y="396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presentations/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4000" y="432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reports/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4000" y="4680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troubleshooting/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16 / 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03 ·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상태 머신 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600" y="1620000"/>
            <a:ext cx="1368000" cy="503999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INIT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4600" y="184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88600" y="1620000"/>
            <a:ext cx="1368000" cy="503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8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6600" y="184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0600" y="1620000"/>
            <a:ext cx="1368000" cy="503999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8600" y="184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12600" y="1620000"/>
            <a:ext cx="1368000" cy="503999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2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EXECUTE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0600" y="184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24600" y="1620000"/>
            <a:ext cx="1368000" cy="50399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4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2600" y="184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36600" y="1620000"/>
            <a:ext cx="1368000" cy="503999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6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CHECKPOINT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04600" y="184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48600" y="1620000"/>
            <a:ext cx="1368000" cy="503999"/>
          </a:xfrm>
          <a:prstGeom prst="rect">
            <a:avLst/>
          </a:prstGeom>
          <a:solidFill>
            <a:srgbClr val="38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00" y="1620000"/>
            <a:ext cx="13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75000" y="2123999"/>
            <a:ext cx="43200" cy="180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8600" y="2473199"/>
            <a:ext cx="144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63000" y="2123999"/>
            <a:ext cx="43200" cy="180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2600" y="2303999"/>
            <a:ext cx="1368000" cy="39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2600" y="2303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00600" y="2303999"/>
            <a:ext cx="1368000" cy="3960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0600" y="2303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STATUS.md
현재 섹션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8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Scope·Files·Risk
Reversal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0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사용자 명시적
승인 대기 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2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승인된 범위만
수행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4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결과 확인
DR/cascade 점검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6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commit +
STATUS 갱신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00" y="2807999"/>
            <a:ext cx="13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Arial"/>
              </a:rPr>
              <a:t>/done
세션 종료 요약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0000" y="3780000"/>
            <a:ext cx="11113200" cy="198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000" y="3851999"/>
            <a:ext cx="107532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Arial"/>
              </a:rPr>
              <a:t>Hard Rules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승인(APPROVAL) 없이 EXECUTE로 넘어가지 않는다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STATUS.md 변경은 STATUS Update Proposal → 사용자 승인 후에만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VALIDATE 실패 상태에서는 CHECKPOINT / commit을 만들지 않는다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▪ 동일 오류가 2회 반복되면 FAIL을 보고한다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17 /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03 ·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스캐폴딩 — create-harness.sh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B5D0"/>
                </a:solidFill>
                <a:latin typeface="Arial"/>
              </a:rPr>
              <a:t>어디서나 재사용 가능한 구조 — 새 프로젝트에 하네스를 30분 안에 심는다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728000"/>
            <a:ext cx="6660000" cy="306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36000"/>
            <a:ext cx="6300000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# 신규 프로젝트 (generic 프로파일)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scripts/create-harness.sh --profile generic  my-project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# Spring Boot / MSA 프로젝트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scripts/create-harness.sh --profile spring-boot  my-project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# 기존 프로젝트에 overlay (기존 파일 덮어쓰기 없음)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scripts/create-harness.sh --existing  my-project  ./existing-dir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# dry-run 으로 생성 목록 확인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scripts/create-harness.sh --dry-run  my-project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60000" y="1728000"/>
            <a:ext cx="2046600" cy="36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6600" y="1728000"/>
            <a:ext cx="2046600" cy="360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2000" y="172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generic (기본)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8600" y="172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spring-boot 추가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0000" y="2088000"/>
            <a:ext cx="20466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6600" y="2088000"/>
            <a:ext cx="20466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2000" y="208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CLAUDE.md / AGENTS.md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8600" y="208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  <a:latin typeface="Arial"/>
              </a:rPr>
              <a:t>java-spring.md 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0000" y="2448000"/>
            <a:ext cx="20466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6600" y="2448000"/>
            <a:ext cx="20466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2000" y="244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9개 Slash Commands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8600" y="244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  <a:latin typeface="Arial"/>
              </a:rPr>
              <a:t>Spring Boot 전용 prompts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2808000"/>
            <a:ext cx="20466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6600" y="2808000"/>
            <a:ext cx="2046600" cy="360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2000" y="280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docs/ 전체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8600" y="280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  <a:latin typeface="Arial"/>
              </a:rPr>
              <a:t>Cursor java-spring.mdc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60000" y="3168000"/>
            <a:ext cx="20466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6600" y="3168000"/>
            <a:ext cx="2046600" cy="36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2000" y="316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공통 prompts (15개)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600" y="3168000"/>
            <a:ext cx="193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  <a:latin typeface="Arial"/>
              </a:rPr>
              <a:t>role-backend.mdc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18 /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04 · 핵심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Context Loading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  <a:latin typeface="Arial"/>
              </a:rPr>
              <a:t>항상 STATUS.md에서 시작하고, 조건이 충족될 때만 추가 문서를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728000"/>
            <a:ext cx="2880000" cy="4320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72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항상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8000" y="1728000"/>
            <a:ext cx="81252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6000" y="1728000"/>
            <a:ext cx="78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→  STATUS.md 현재 섹션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214000"/>
            <a:ext cx="2880000" cy="43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2214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6CB0"/>
                </a:solidFill>
                <a:latin typeface="Arial"/>
              </a:rPr>
              <a:t>backlog 선택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8000" y="2214000"/>
            <a:ext cx="8125200" cy="4320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6000" y="2214000"/>
            <a:ext cx="78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→  backlog/PHASE{n}.md  또는  HARNESS.md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700000"/>
            <a:ext cx="2880000" cy="43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2700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6CB0"/>
                </a:solidFill>
                <a:latin typeface="Arial"/>
              </a:rPr>
              <a:t>아키텍처 확인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8000" y="2700000"/>
            <a:ext cx="8125200" cy="4320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6000" y="2700000"/>
            <a:ext cx="78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→  PLAN-SUMMARY.md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186000"/>
            <a:ext cx="2880000" cy="43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3186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B5D0"/>
                </a:solidFill>
                <a:latin typeface="Arial"/>
              </a:rPr>
              <a:t>L3 변경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8000" y="3186000"/>
            <a:ext cx="8125200" cy="432000"/>
          </a:xfrm>
          <a:prstGeom prst="rect">
            <a:avLst/>
          </a:prstGeom>
          <a:solidFill>
            <a:srgbClr val="DBEBF8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6000" y="3186000"/>
            <a:ext cx="78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→  PLAN.md  +  관련 DR-*.md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672000"/>
            <a:ext cx="2880000" cy="43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36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Arial"/>
              </a:rPr>
              <a:t>회고 참조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8000" y="3672000"/>
            <a:ext cx="8125200" cy="4320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6000" y="3672000"/>
            <a:ext cx="78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→  retrospectives/  (최신 1개만)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4158000"/>
            <a:ext cx="2880000" cy="43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000" y="415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Arial"/>
              </a:rPr>
              <a:t>과거 이력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8000" y="4158000"/>
            <a:ext cx="8125200" cy="4320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6000" y="4158000"/>
            <a:ext cx="78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→  archive/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860000"/>
            <a:ext cx="11113200" cy="1368000"/>
          </a:xfrm>
          <a:prstGeom prst="rect">
            <a:avLst/>
          </a:prstGeom>
          <a:solidFill>
            <a:srgbClr val="FEEBEB"/>
          </a:solidFill>
          <a:ln w="1524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4860000"/>
            <a:ext cx="11113200" cy="288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000" y="4860000"/>
            <a:ext cx="1075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Anti-Patterns — 하지 말 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5220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53535"/>
                </a:solidFill>
                <a:latin typeface="Arial"/>
              </a:rPr>
              <a:t>▪ 모든 문서를 먼저 읽지 않는다  (전체 repo 스캔 금지)</a:t>
            </a:r>
          </a:p>
          <a:p>
            <a:pPr algn="l"/>
            <a:r>
              <a:rPr sz="1300" b="0">
                <a:solidFill>
                  <a:srgbClr val="E53535"/>
                </a:solidFill>
                <a:latin typeface="Arial"/>
              </a:rPr>
              <a:t>▪ PLAN-SUMMARY.md로 충분한데 PLAN.md 전체를 읽지 않는다</a:t>
            </a:r>
          </a:p>
          <a:p>
            <a:pPr algn="l"/>
            <a:r>
              <a:rPr sz="1300" b="0">
                <a:solidFill>
                  <a:srgbClr val="E53535"/>
                </a:solidFill>
                <a:latin typeface="Arial"/>
              </a:rPr>
              <a:t>▪ 회고 전체를 먼저 읽지 않는다 — 최신 1개, 관련 키워드 1개만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19 / 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04 · 핵심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Risk Gate (L1 / L2 / L3)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11113200" cy="1368000"/>
          </a:xfrm>
          <a:prstGeom prst="rect">
            <a:avLst/>
          </a:prstGeom>
          <a:solidFill>
            <a:srgbClr val="C6F6D5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368000"/>
            <a:ext cx="1800000" cy="1368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76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L1 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000" y="1440000"/>
            <a:ext cx="91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Arial"/>
              </a:rPr>
              <a:t>예시: 문서 소폭 수정 / 테스트 / 국소 버그 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1764000"/>
            <a:ext cx="91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  <a:latin typeface="Arial"/>
              </a:rPr>
              <a:t>Gate: 간단 plan → 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2088000"/>
            <a:ext cx="913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▪ 범위가 좁고 되돌리기 쉬운 변경
▪ 빠른 plan 제시 후 바로 진행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843999"/>
            <a:ext cx="11113200" cy="1368000"/>
          </a:xfrm>
          <a:prstGeom prst="rect">
            <a:avLst/>
          </a:prstGeom>
          <a:solidFill>
            <a:srgbClr val="DBEBF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2843999"/>
            <a:ext cx="1800000" cy="136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239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L2 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2915999"/>
            <a:ext cx="91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Arial"/>
              </a:rPr>
              <a:t>예시: 기능 구현 / 설정 변경 / hook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3239999"/>
            <a:ext cx="91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Arial"/>
              </a:rPr>
              <a:t>Gate: 상세 plan → 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0" y="3563999"/>
            <a:ext cx="913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▪ Scope / Files / Verification / Risk / Reversal Cost 포함
▪ 영향 범위가 2개 이상 파일/모듈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4319998"/>
            <a:ext cx="11113200" cy="1368000"/>
          </a:xfrm>
          <a:prstGeom prst="rect">
            <a:avLst/>
          </a:prstGeom>
          <a:solidFill>
            <a:srgbClr val="FEEBEB"/>
          </a:solidFill>
          <a:ln w="1905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0000" y="4319998"/>
            <a:ext cx="1800000" cy="1368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4715998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L3 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00" y="4391998"/>
            <a:ext cx="91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Arial"/>
              </a:rPr>
              <a:t>예시: 아키텍처 / 보안 / DB schema / harness 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00" y="4715998"/>
            <a:ext cx="91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Gate: AS-IS/TO-BE + rollback 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00" y="5039998"/>
            <a:ext cx="913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▪ 관련 PLAN.md 또는 계획 문서 확인 필수
▪ 논리 단계별 commit 기본값
▪ Rollback plan은 commit 또는 단계 단위로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5832000"/>
            <a:ext cx="11113200" cy="324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5832000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STATUS.md 변경은 항상 별도 Gate:  STATUS Update Proposal 보고 → 사용자 승인 → 수정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20 / 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04 · 핵심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Slash Commands 레퍼런스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368000"/>
            <a:ext cx="36444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368000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800000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세션 시작
STATUS.md 현재 섹션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483999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Arial"/>
              </a:rPr>
              <a:t>→ 매 세션 첫 번째 명령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4400" y="1368000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400" y="1368000"/>
            <a:ext cx="3644400" cy="396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400" y="1368000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/pick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2400" y="1800000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backlog에서
우선순위 후보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2400" y="2483999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5D0"/>
                </a:solidFill>
                <a:latin typeface="Arial"/>
              </a:rPr>
              <a:t>→ 무엇을 할지 모를 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8800" y="1368000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8800" y="1368000"/>
            <a:ext cx="3644400" cy="39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6800" y="1368000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/work &lt;ID&gt;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6800" y="1800000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특정 작업 계획 수립
+ Risk 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6800" y="2483999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Arial"/>
              </a:rPr>
              <a:t>→ 작업 ID가 정해졌을 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33999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0000" y="2933999"/>
            <a:ext cx="3644400" cy="396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2933999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3365999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중단된 작업 재개
drift 체크 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" y="4049998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  <a:latin typeface="Arial"/>
              </a:rPr>
              <a:t>→ 이전 세션에서 이어갈 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4400" y="2933999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4400" y="2933999"/>
            <a:ext cx="3644400" cy="39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2400" y="2933999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2400" y="3365999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세션 종료 체크리스트
validation·DR·commit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2400" y="4049998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535"/>
                </a:solidFill>
                <a:latin typeface="Arial"/>
              </a:rPr>
              <a:t>→ 세션을 끝낼 때만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8800" y="2933999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8800" y="2933999"/>
            <a:ext cx="3644400" cy="39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6800" y="2933999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/register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6800" y="3365999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새 작업 항목 등록
위치 자동 라우팅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6800" y="4049998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  <a:latin typeface="Arial"/>
              </a:rPr>
              <a:t>→ 새 아이디어·버그 발견 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499998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0000" y="4499998"/>
            <a:ext cx="3644400" cy="396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4499998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/record-decision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000" y="4931998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결정 사항을 DR로
공식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000" y="5615997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6A623"/>
                </a:solidFill>
                <a:latin typeface="Arial"/>
              </a:rPr>
              <a:t>→ 기술 결정 확정 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4400" y="4499998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4400" y="4499998"/>
            <a:ext cx="36444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2400" y="4499998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/health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2400" y="4931998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워크플로우 문서
건강 상태 점검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2400" y="5615997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Arial"/>
              </a:rPr>
              <a:t>→ 정기 점검 또는 이상 감지 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8800" y="4499998"/>
            <a:ext cx="3644400" cy="1475999"/>
          </a:xfrm>
          <a:prstGeom prst="rect">
            <a:avLst/>
          </a:prstGeom>
          <a:solidFill>
            <a:srgbClr val="EEF2F7"/>
          </a:solidFill>
          <a:ln w="1905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08800" y="4499998"/>
            <a:ext cx="3644400" cy="396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6800" y="4499998"/>
            <a:ext cx="3500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/>
              </a:rPr>
              <a:t>/doc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6800" y="4931998"/>
            <a:ext cx="34284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발표·보고 산출물
워크플로우 실행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6800" y="5615997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5D0"/>
                </a:solidFill>
                <a:latin typeface="Arial"/>
              </a:rPr>
              <a:t>→ 이 발표자료 만들 때 사용!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21 / 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04 · 핵심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Document Lifecycle &amp;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2078640" cy="46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440000"/>
            <a:ext cx="20786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CREATE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8640" y="1602000"/>
            <a:ext cx="1080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26640" y="1440000"/>
            <a:ext cx="2078640" cy="46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6640" y="1440000"/>
            <a:ext cx="20786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5280" y="1602000"/>
            <a:ext cx="1080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13280" y="1440000"/>
            <a:ext cx="2078640" cy="46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3280" y="1440000"/>
            <a:ext cx="20786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1920" y="1602000"/>
            <a:ext cx="1080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9920" y="1440000"/>
            <a:ext cx="2078640" cy="46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9920" y="1440000"/>
            <a:ext cx="20786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78560" y="1602000"/>
            <a:ext cx="1080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6560" y="1440000"/>
            <a:ext cx="2078640" cy="468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6560" y="1440000"/>
            <a:ext cx="20786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ARCHIVE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2088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Arial"/>
              </a:rPr>
              <a:t>Documentation Triggers — 자동이 아니라 제안 후 승인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412000"/>
            <a:ext cx="900000" cy="39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0000" y="2412000"/>
            <a:ext cx="3960000" cy="39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00000" y="2412000"/>
            <a:ext cx="6253200" cy="39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2412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2412000"/>
            <a:ext cx="38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2000" y="2412000"/>
            <a:ext cx="61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2808000"/>
            <a:ext cx="90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0000" y="2808000"/>
            <a:ext cx="396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0" y="2808000"/>
            <a:ext cx="62532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2808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Arial"/>
              </a:rPr>
              <a:t>T1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0" y="2808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DR-worthy 결정 확정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2000" y="2808000"/>
            <a:ext cx="607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Arial"/>
              </a:rPr>
              <a:t>docs/decisions/DR-*.md 생성 제안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3204000"/>
            <a:ext cx="90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0000" y="3204000"/>
            <a:ext cx="396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0000" y="3204000"/>
            <a:ext cx="62532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000" y="3204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Arial"/>
              </a:rPr>
              <a:t>T5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2000" y="3204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DR Accepted → PLAN 영향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2000" y="3204000"/>
            <a:ext cx="607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Arial"/>
              </a:rPr>
              <a:t>PLAN.md / ARCHITECTURE.md 업데이트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" y="3600000"/>
            <a:ext cx="90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40000" y="3600000"/>
            <a:ext cx="396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00000" y="3600000"/>
            <a:ext cx="62532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000" y="3600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Arial"/>
              </a:rPr>
              <a:t>T6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12000" y="3600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구조·흐름 구현 변경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2000" y="3600000"/>
            <a:ext cx="607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Arial"/>
              </a:rPr>
              <a:t>ARCHITECTURE.md / DEVELOPER-GUIDE 확인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000" y="3996000"/>
            <a:ext cx="90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40000" y="3996000"/>
            <a:ext cx="396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00000" y="3996000"/>
            <a:ext cx="62532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000" y="3996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Arial"/>
              </a:rPr>
              <a:t>T7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2000" y="3996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워크플로우 rule/command 변경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2000" y="3996000"/>
            <a:ext cx="607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Arial"/>
              </a:rPr>
              <a:t>harness-protocol/ 업데이트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0000" y="4392000"/>
            <a:ext cx="90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40000" y="4392000"/>
            <a:ext cx="39600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00000" y="4392000"/>
            <a:ext cx="6253200" cy="396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8000" y="4392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Arial"/>
              </a:rPr>
              <a:t>T8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2000" y="4392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비자명 이슈 해결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72000" y="4392000"/>
            <a:ext cx="607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Arial"/>
              </a:rPr>
              <a:t>docs/troubleshooting/ 기록 제안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0000" y="4788000"/>
            <a:ext cx="90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40000" y="4788000"/>
            <a:ext cx="396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00000" y="4788000"/>
            <a:ext cx="62532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000" y="4788000"/>
            <a:ext cx="7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Arial"/>
              </a:rPr>
              <a:t>T9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12000" y="4788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발표·보고 산출물 생성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2000" y="4788000"/>
            <a:ext cx="607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Arial"/>
              </a:rPr>
              <a:t>source traceability · output path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22 / 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04 · 핵심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멀티 툴 지원 — Claude / Cursor / Codex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3584400" cy="3131999"/>
          </a:xfrm>
          <a:prstGeom prst="rect">
            <a:avLst/>
          </a:prstGeom>
          <a:solidFill>
            <a:srgbClr val="DBEBF8"/>
          </a:solidFill>
          <a:ln w="1905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3584400" cy="432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440000"/>
            <a:ext cx="3584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98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CLAUDE.md  →  AGENT-WORKFLOW.md 자동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34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/start /pick /work /resume /done 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70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/record-decision /health /doc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06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.claude/rules/ (5개 guardrail)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Stop hook (세션 종료 reminder)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78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settings.json permissions (deny 목록)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140000"/>
            <a:ext cx="3584400" cy="432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140000"/>
            <a:ext cx="3584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가장 강한 유도
자동 로드 + Commands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4400" y="1440000"/>
            <a:ext cx="3584400" cy="3131999"/>
          </a:xfrm>
          <a:prstGeom prst="rect">
            <a:avLst/>
          </a:prstGeom>
          <a:solidFill>
            <a:srgbClr val="D0F4FA"/>
          </a:solidFill>
          <a:ln w="1905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14400" y="1440000"/>
            <a:ext cx="3584400" cy="432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4400" y="1440000"/>
            <a:ext cx="3584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2400" y="198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.cursor/rules/*.mdc (10개)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2400" y="234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workflow.mdc — 상태 머신 +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2400" y="270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execution.mdc — 실행 규칙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400" y="306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git-commit.mdc — commit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400" y="342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cursor-session-start.md (수동 로드)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4400" y="4140000"/>
            <a:ext cx="3584400" cy="432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4400" y="4140000"/>
            <a:ext cx="3584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중간 수준 유도
rules 기반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8800" y="1440000"/>
            <a:ext cx="3584400" cy="3131999"/>
          </a:xfrm>
          <a:prstGeom prst="rect">
            <a:avLst/>
          </a:prstGeom>
          <a:solidFill>
            <a:srgbClr val="EEF2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88800" y="1440000"/>
            <a:ext cx="35844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8800" y="1440000"/>
            <a:ext cx="3584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Codex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6800" y="198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AGENTS.md  →  AGENT-WORKFLOW.md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6800" y="234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prompts/codex-session-start.md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6800" y="2700000"/>
            <a:ext cx="336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  공통 운영 규칙 동일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8800" y="4140000"/>
            <a:ext cx="35844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8800" y="4140000"/>
            <a:ext cx="3584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Bootstrap prompt
의존도 높음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4752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Arial"/>
              </a:rPr>
              <a:t>공통: docs/AGENT-WORKFLOW.md — 세 도구의 공통 운영 규칙 (STATUS.md가 shared 기준점)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23 / 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05 · 사용법 /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첫 번째 세션 시작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440000"/>
            <a:ext cx="5688000" cy="1260000"/>
          </a:xfrm>
          <a:prstGeom prst="rect">
            <a:avLst/>
          </a:prstGeom>
          <a:solidFill>
            <a:srgbClr val="EEF2F7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440000"/>
            <a:ext cx="792000" cy="12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728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2000" y="1584000"/>
            <a:ext cx="46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Courier New"/>
              </a:rPr>
              <a:t>claude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2000" y="2016000"/>
            <a:ext cx="46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터미널에서 claude 명령어로 Claude Code를 시작합니다.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2000" y="1440000"/>
            <a:ext cx="5688000" cy="1260000"/>
          </a:xfrm>
          <a:prstGeom prst="rect">
            <a:avLst/>
          </a:prstGeom>
          <a:solidFill>
            <a:srgbClr val="EEF2F7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2000" y="1440000"/>
            <a:ext cx="792000" cy="12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728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2000" y="1584000"/>
            <a:ext cx="46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Courier New"/>
              </a:rPr>
              <a:t>/start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2000" y="2016000"/>
            <a:ext cx="46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하네스 로딩 확인 + STATUS.md 현재 섹션 자동 요약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808000"/>
            <a:ext cx="5688000" cy="1260000"/>
          </a:xfrm>
          <a:prstGeom prst="rect">
            <a:avLst/>
          </a:prstGeom>
          <a:solidFill>
            <a:srgbClr val="EEF2F7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808000"/>
            <a:ext cx="792000" cy="12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3096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2952000"/>
            <a:ext cx="46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Courier New"/>
              </a:rPr>
              <a:t>/pick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000" y="3384000"/>
            <a:ext cx="46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backlog에서 우선순위 높은 작업 후보를 Claude가 제안합니다.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2000" y="2808000"/>
            <a:ext cx="5688000" cy="1260000"/>
          </a:xfrm>
          <a:prstGeom prst="rect">
            <a:avLst/>
          </a:prstGeom>
          <a:solidFill>
            <a:srgbClr val="EEF2F7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2000" y="2808000"/>
            <a:ext cx="792000" cy="12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000" y="3096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2000" y="2952000"/>
            <a:ext cx="46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Courier New"/>
              </a:rPr>
              <a:t>/work &lt;ID&gt;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2000" y="3384000"/>
            <a:ext cx="46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선택한 작업의 Plan (Scope·Files·Risk·Reversal Cost) 수립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176000"/>
            <a:ext cx="5688000" cy="1260000"/>
          </a:xfrm>
          <a:prstGeom prst="rect">
            <a:avLst/>
          </a:prstGeom>
          <a:solidFill>
            <a:srgbClr val="EEF2F7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000" y="4176000"/>
            <a:ext cx="792000" cy="12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4464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2000" y="4320000"/>
            <a:ext cx="46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Courier New"/>
              </a:rPr>
              <a:t>Plan 검토 → 승인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2000" y="4752000"/>
            <a:ext cx="46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Claude의 Plan을 확인하고 진행을 승인합니다.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4176000"/>
            <a:ext cx="5688000" cy="1260000"/>
          </a:xfrm>
          <a:prstGeom prst="rect">
            <a:avLst/>
          </a:prstGeom>
          <a:solidFill>
            <a:srgbClr val="EEF2F7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2000" y="4176000"/>
            <a:ext cx="792000" cy="12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2000" y="4464000"/>
            <a:ext cx="7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2000" y="4320000"/>
            <a:ext cx="46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Courier New"/>
              </a:rPr>
              <a:t>/done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2000" y="4752000"/>
            <a:ext cx="46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02C"/>
                </a:solidFill>
                <a:latin typeface="Arial"/>
              </a:rPr>
              <a:t>세션 종료 시: validation·DR·STATUS·commit 상태 체크리스트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5958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A169"/>
                </a:solidFill>
                <a:latin typeface="Arial"/>
              </a:rPr>
              <a:t>주니어도 이 6단계만 기억하면 OK  ·  /start → /pick → /work → (반복) → /done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24 / 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05 · 사용법 /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일상 세션 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476600" y="1440000"/>
            <a:ext cx="3240000" cy="45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6600" y="1440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/start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6600" y="1440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세션 시작 — STATUS.md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5000" y="1890000"/>
            <a:ext cx="432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76600" y="2034000"/>
            <a:ext cx="3240000" cy="450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6600" y="2034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/pick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600" y="2034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작업 선택 — backlog 후보 제안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5000" y="2484000"/>
            <a:ext cx="432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6600" y="2628000"/>
            <a:ext cx="3240000" cy="45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6600" y="2628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/work &lt;ID&gt;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6600" y="2628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계획 수립 — Plan 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5000" y="3078000"/>
            <a:ext cx="432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76600" y="3222000"/>
            <a:ext cx="3240000" cy="450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6600" y="3222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Plan 검토 → 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600" y="3222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사용자 승인 (APPROVAL Gate)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5000" y="3672000"/>
            <a:ext cx="432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76600" y="3816000"/>
            <a:ext cx="3240000" cy="45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6600" y="3816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실행 (EXECUTE)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6600" y="3816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승인된 범위만 수행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5000" y="4266000"/>
            <a:ext cx="432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6600" y="4410000"/>
            <a:ext cx="3240000" cy="45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6600" y="4410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결과 확인 (VALIDATE)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6600" y="4410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DR·cascade 필요 여부 점검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5000" y="4860000"/>
            <a:ext cx="43200" cy="14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76600" y="5004000"/>
            <a:ext cx="3240000" cy="45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6600" y="5004000"/>
            <a:ext cx="3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CHECKPOINT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6600" y="5004000"/>
            <a:ext cx="3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commit + STATUS 갱신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6600" y="559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B5D0"/>
                </a:solidFill>
                <a:latin typeface="Arial"/>
              </a:rPr>
              <a:t>다음 작업이 있으면 /pick으로 이어서 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6030001"/>
            <a:ext cx="11113200" cy="432000"/>
          </a:xfrm>
          <a:prstGeom prst="rect">
            <a:avLst/>
          </a:prstGeom>
          <a:solidFill>
            <a:srgbClr val="FEEBEB"/>
          </a:solidFill>
          <a:ln w="15240">
            <a:solidFill>
              <a:srgbClr val="E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6030001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⚠  /done 은 세션을 완전히 종료할 때만 실행합니다. 작업 하나 끝날 때마다 /done 하지 않습니다.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25 / 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05 · 사용법 /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작업 등록 &amp; 선택 — /register / /pick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A169"/>
                </a:solidFill>
                <a:latin typeface="Courier New"/>
              </a:rPr>
              <a:t>/register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800000"/>
            <a:ext cx="6840000" cy="198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08000"/>
            <a:ext cx="6480000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/register "Redis rate limiting을 IP 기반으로 개선"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→ Claude: 긴급도 + 성격 확인 후 적절한 위치에 자동 등록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→ Product 작업이면 backlog/PHASE{n}.md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→ Harness 개선이면 backlog/HARNESS.md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→ 긴급하면 STATUS.md Active Work + /work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0000" y="144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Arial"/>
              </a:rPr>
              <a:t>등록 위치 결정표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0000" y="1800000"/>
            <a:ext cx="1980000" cy="432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20000" y="1800000"/>
            <a:ext cx="1980000" cy="432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2000" y="180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긴급도/성격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2000" y="180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등록 위치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0000" y="2232000"/>
            <a:ext cx="1980000" cy="432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20000" y="2232000"/>
            <a:ext cx="1980000" cy="432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2000" y="223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지금 바로 착수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2000" y="223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  <a:latin typeface="Arial"/>
              </a:rPr>
              <a:t>STATUS.md Active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0000" y="2664000"/>
            <a:ext cx="198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20000" y="2664000"/>
            <a:ext cx="198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2000" y="266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곧 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2000" y="266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  <a:latin typeface="Arial"/>
              </a:rPr>
              <a:t>STATUS.md Next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0000" y="3096000"/>
            <a:ext cx="1980000" cy="432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20000" y="3096000"/>
            <a:ext cx="1980000" cy="43200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2000" y="3096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Product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2000" y="3096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  <a:latin typeface="Arial"/>
              </a:rPr>
              <a:t>backlog/PHASE{n}.md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0000" y="3528000"/>
            <a:ext cx="198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00" y="3528000"/>
            <a:ext cx="198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2000" y="3528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Harness 작업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2000" y="3528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A169"/>
                </a:solidFill>
                <a:latin typeface="Arial"/>
              </a:rPr>
              <a:t>backlog/HARNESS.md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0000" y="4104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Arial"/>
              </a:rPr>
              <a:t>ID 네이밍 규칙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0000" y="4392000"/>
            <a:ext cx="4140000" cy="19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  <a:latin typeface="Arial"/>
              </a:rPr>
              <a:t>  P{n}-NNN: Phase product backlog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  HRN-*: Harness hardening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  HRF-*: Harness refactor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  DR-NNN: Decision record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  DOC-*: Documentation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26 / 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05 · 사용법 /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Decision Record (DR) 운영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966600" y="1512000"/>
            <a:ext cx="1620000" cy="396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6600" y="151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기술 결정 발생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6600" y="1681200"/>
            <a:ext cx="108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4600" y="1512000"/>
            <a:ext cx="1620000" cy="39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4600" y="151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/record-decision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4600" y="1681200"/>
            <a:ext cx="108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00" y="1512000"/>
            <a:ext cx="1620000" cy="39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2600" y="151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DR Draft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2600" y="1681200"/>
            <a:ext cx="108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0600" y="1512000"/>
            <a:ext cx="1620000" cy="396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0600" y="151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리뷰 / 승인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0600" y="1681200"/>
            <a:ext cx="108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8600" y="1512000"/>
            <a:ext cx="1620000" cy="396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8600" y="151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DR Accepted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8600" y="1681200"/>
            <a:ext cx="108000" cy="57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6600" y="1512000"/>
            <a:ext cx="1620000" cy="39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6600" y="151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T5 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2052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B5D0"/>
                </a:solidFill>
                <a:latin typeface="Arial"/>
              </a:rPr>
              <a:t>Accepted → PLAN.md / ARCHITECTURE.md 업데이트 확인 (T5 cascade)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412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Arial"/>
              </a:rPr>
              <a:t>DR 파일 예시 — docs/decisions/DR-010-integration-test-infra.md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2700000"/>
            <a:ext cx="7200000" cy="216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2808000"/>
            <a:ext cx="6840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# DR-010: 통합 테스트 인프라 — Testcontainers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Status   : Accepted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Date     : 2026-05-15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Deciders : Kyungseo Park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Decision : Docker Compose services 블록 대신 Testcontainers 사용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Reason   : CI 단순화, 테스트가 자체 인프라를 자급자족</a:t>
            </a:r>
          </a:p>
          <a:p>
            <a:pPr algn="l"/>
            <a:r>
              <a:rPr sz="1200" b="0">
                <a:solidFill>
                  <a:srgbClr val="98C379"/>
                </a:solidFill>
                <a:latin typeface="Courier New"/>
              </a:rPr>
              <a:t>Trade-off: Testcontainers 학습 비용 (낮음)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0000" y="2412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Arial"/>
              </a:rPr>
              <a:t>현재 DR 목록  (DR-001 ~ DR-012, 총 12개)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0000" y="2700000"/>
            <a:ext cx="3780000" cy="36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C"/>
                </a:solidFill>
                <a:latin typeface="Arial"/>
              </a:rPr>
              <a:t>DR-001: Token storage 전략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DR-002: K8s 툴 선택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DR-003: Phase 2 우선순위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DR-007: 언어 정책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DR-010: 통합 테스트 (Testcontainers)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DR-011: STATUS Recent Decisions 정책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DR-012: Agent 진입점 대칭 구조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C"/>
                </a:solidFill>
                <a:latin typeface="Arial"/>
              </a:rPr>
              <a:t>... 등 12개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27 /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05 · 사용법 /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신규 프로젝트에 하네스 적용하기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3644400" cy="4320000"/>
          </a:xfrm>
          <a:prstGeom prst="rect">
            <a:avLst/>
          </a:prstGeom>
          <a:solidFill>
            <a:srgbClr val="EEF2F7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3644400" cy="36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440000"/>
            <a:ext cx="364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872000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A169"/>
                </a:solidFill>
                <a:latin typeface="Arial"/>
              </a:rPr>
              <a:t>Scaffold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26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ourier New"/>
              </a:rPr>
              <a:t>scripts/create-harness.sh --profile generic  my-project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62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ourier New"/>
              </a:rPr>
              <a:t># Spring Boot라면: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98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ourier New"/>
              </a:rPr>
              <a:t>scripts/create-harness.sh --profile spring-boot  my-project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4400" y="1440000"/>
            <a:ext cx="3644400" cy="4320000"/>
          </a:xfrm>
          <a:prstGeom prst="rect">
            <a:avLst/>
          </a:prstGeom>
          <a:solidFill>
            <a:srgbClr val="EEF2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4400" y="1440000"/>
            <a:ext cx="3644400" cy="36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4400" y="1440000"/>
            <a:ext cx="364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2400" y="1872000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Arial"/>
              </a:rPr>
              <a:t>초기화  (3개 파일 채우기)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2400" y="226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Arial"/>
              </a:rPr>
              <a:t>docs/STATUS.md     — 프로젝트 목표 + Phase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2400" y="262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Arial"/>
              </a:rPr>
              <a:t>docs/PLAN-SUMMARY.md — 기술 스택 + 서비스 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2400" y="298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Arial"/>
              </a:rPr>
              <a:t>docs/backlog/PHASE1.md — 초기 작업 항목 P1-001~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8800" y="1440000"/>
            <a:ext cx="3644400" cy="4320000"/>
          </a:xfrm>
          <a:prstGeom prst="rect">
            <a:avLst/>
          </a:prstGeom>
          <a:solidFill>
            <a:srgbClr val="EEF2F7"/>
          </a:solidFill>
          <a:ln w="1905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8800" y="1440000"/>
            <a:ext cx="3644400" cy="36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8800" y="1440000"/>
            <a:ext cx="364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6800" y="1872000"/>
            <a:ext cx="3428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Arial"/>
              </a:rPr>
              <a:t>첫 세션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6800" y="226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ourier New"/>
              </a:rPr>
              <a:t>cd my-project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800" y="262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ourier New"/>
              </a:rPr>
              <a:t>claude          # Claude Code 열기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6800" y="2988000"/>
            <a:ext cx="3428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ourier New"/>
              </a:rPr>
              <a:t>/start          # 하네스 로딩 확인 + STATUS 요약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5940000"/>
            <a:ext cx="11113200" cy="324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5940000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30분이면 새 프로젝트에 하네스 적용 완료  ·  나머지는 첫 세션에서 Claude와 함께 채워나갑니다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28 /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06 · v2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현재 한계 — 솔직하게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04000"/>
            <a:ext cx="11113200" cy="468000"/>
          </a:xfrm>
          <a:prstGeom prst="rect">
            <a:avLst/>
          </a:prstGeom>
          <a:solidFill>
            <a:srgbClr val="FDF0D0"/>
          </a:solidFill>
          <a:ln w="1905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04000"/>
            <a:ext cx="1075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  <a:latin typeface="Arial"/>
              </a:rPr>
              <a:t>Manual-first = 규칙은 있지만 강제력은 Agent 실행 규율에 의존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980000"/>
            <a:ext cx="540000" cy="75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124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000" y="1980000"/>
            <a:ext cx="10501200" cy="756000"/>
          </a:xfrm>
          <a:prstGeom prst="rect">
            <a:avLst/>
          </a:prstGeom>
          <a:solidFill>
            <a:srgbClr val="FEEBEB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2034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STATUS.md 갱신 강제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" y="2340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Claude가 STATUS.md를 업데이트하지 않아도 막을 방법이 없습니다.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844000"/>
            <a:ext cx="540000" cy="75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98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000" y="2844000"/>
            <a:ext cx="10501200" cy="756000"/>
          </a:xfrm>
          <a:prstGeom prst="rect">
            <a:avLst/>
          </a:prstGeom>
          <a:solidFill>
            <a:srgbClr val="FEEBEB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2898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VALIDATE 없이 완료 보고 금지 — hard gate 자동화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0000" y="3204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검증을 건너뛰고 완료를 보고해도 시스템이 차단하지 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3708000"/>
            <a:ext cx="540000" cy="75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3852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000" y="3708000"/>
            <a:ext cx="10501200" cy="756000"/>
          </a:xfrm>
          <a:prstGeom prst="rect">
            <a:avLst/>
          </a:prstGeom>
          <a:solidFill>
            <a:srgbClr val="FEEBEB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0000" y="3762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orphan · stale 문서 자동 탐지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4068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사용되지 않는 문서나 오래된 참조를 CI에서 자동으로 감지하지 못합니다.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4572000"/>
            <a:ext cx="540000" cy="75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4716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2000" y="4572000"/>
            <a:ext cx="10501200" cy="756000"/>
          </a:xfrm>
          <a:prstGeom prst="rect">
            <a:avLst/>
          </a:prstGeom>
          <a:solidFill>
            <a:srgbClr val="FEEBEB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0000" y="4626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.harness/config.json 같은 SSOT config 미도입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0000" y="4932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하네스 설정의 단일 기준점이 없어서 개별 파일 수동 관리가 필요합니다.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5436000"/>
            <a:ext cx="540000" cy="7560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558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000" y="5436000"/>
            <a:ext cx="10501200" cy="756000"/>
          </a:xfrm>
          <a:prstGeom prst="rect">
            <a:avLst/>
          </a:prstGeom>
          <a:solidFill>
            <a:srgbClr val="FEEBEB"/>
          </a:solidFill>
          <a:ln w="381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0000" y="5490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535"/>
                </a:solidFill>
                <a:latin typeface="Arial"/>
              </a:rPr>
              <a:t>CI에서 command / rule / protocol drift 감지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000" y="5796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slash command와 protocol 문서 간 불일치를 자동으로 검사하지 못합니다.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29 / 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8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396000"/>
            <a:ext cx="1800000" cy="2088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96000"/>
            <a:ext cx="18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SECTION 06 · v2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B4A"/>
                </a:solidFill>
                <a:latin typeface="Arial"/>
              </a:rPr>
              <a:t>v2 목표 — 다음 품질 도약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04000"/>
            <a:ext cx="11113200" cy="36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04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B5D0"/>
                </a:solidFill>
                <a:latin typeface="Arial"/>
              </a:rPr>
              <a:t>방향: 문서를 더 늘리는 게 아니라  "깨지는 지점을 자동으로 감지"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1260000" cy="1007999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908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HRN-001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2000" y="1800000"/>
            <a:ext cx="9781200" cy="1007999"/>
          </a:xfrm>
          <a:prstGeom prst="rect">
            <a:avLst/>
          </a:prstGeom>
          <a:solidFill>
            <a:srgbClr val="EEF2F7"/>
          </a:solidFill>
          <a:ln w="12700">
            <a:solidFill>
              <a:srgbClr val="0F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0000" y="1872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B5D0"/>
                </a:solidFill>
                <a:latin typeface="Arial"/>
              </a:rPr>
              <a:t>Stop hook 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2196000"/>
            <a:ext cx="96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Claude 세션 종료 시 /done 절차 없이 끝나면 자동 reminder 출력
(현재 부분 구현, 고도화 예정)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826000"/>
            <a:ext cx="1260000" cy="1007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934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HRN-002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2000" y="2826000"/>
            <a:ext cx="9781200" cy="1007999"/>
          </a:xfrm>
          <a:prstGeom prst="rect">
            <a:avLst/>
          </a:prstGeom>
          <a:solidFill>
            <a:srgbClr val="EEF2F7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0000" y="2898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Arial"/>
              </a:rPr>
              <a:t>Validation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000" y="3222000"/>
            <a:ext cx="96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VALIDATE 실패 시 commit 차단 / STATUS.md drift 자동 감지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1260000" cy="100799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396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HRN-003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2000" y="3852000"/>
            <a:ext cx="9781200" cy="1007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0" y="3924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A169"/>
                </a:solidFill>
                <a:latin typeface="Arial"/>
              </a:rPr>
              <a:t>CI 정합성 검사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4248000"/>
            <a:ext cx="96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slash command / rule / harness-protocol 간 불일치를
CI 파이프라인에서 자동 감지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4878000"/>
            <a:ext cx="1260000" cy="1007999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4986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2000" y="4878000"/>
            <a:ext cx="9781200" cy="1007999"/>
          </a:xfrm>
          <a:prstGeom prst="rect">
            <a:avLst/>
          </a:prstGeom>
          <a:solidFill>
            <a:srgbClr val="EEF2F7"/>
          </a:solidFill>
          <a:ln w="12700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80000" y="495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6A623"/>
                </a:solidFill>
                <a:latin typeface="Arial"/>
              </a:rPr>
              <a:t>.harness/config.json SSOT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5274000"/>
            <a:ext cx="96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Arial"/>
              </a:rPr>
              <a:t>하네스 설정의 단일 기준점 도입
(HRF-OQ-003: Manual-first 안정화 후 재검토)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6048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B4A"/>
                </a:solidFill>
                <a:latin typeface="Arial"/>
              </a:rPr>
              <a:t>원칙: Manual-first 안정화 먼저  →  최소 자동화 게이트 단계적 도입  →  CI 강제화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  <a:latin typeface="Arial"/>
              </a:rPr>
              <a:t>30 /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1999" cy="6858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999" y="6642000"/>
            <a:ext cx="11941201" cy="216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1111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핵심 메시지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900000" cy="1440000"/>
          </a:xfrm>
          <a:prstGeom prst="rect">
            <a:avLst/>
          </a:prstGeom>
          <a:solidFill>
            <a:srgbClr val="0FB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56000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2B4A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260000"/>
            <a:ext cx="10141200" cy="1440000"/>
          </a:xfrm>
          <a:prstGeom prst="rect">
            <a:avLst/>
          </a:prstGeom>
          <a:solidFill>
            <a:srgbClr val="2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55999" y="1404000"/>
            <a:ext cx="9961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B5D0"/>
                </a:solidFill>
                <a:latin typeface="Arial"/>
              </a:rPr>
              <a:t>AI 도구 ≠ 마법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999" y="1908000"/>
            <a:ext cx="996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0E8"/>
                </a:solidFill>
                <a:latin typeface="Arial"/>
              </a:rPr>
              <a:t>Context 관리와 실행 규율이 AI 협업의 품질을 결정합니다.
Claude가 똑똑해도 구조 없이는 세션마다 처음부터 시작합니다.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880000"/>
            <a:ext cx="900000" cy="1440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3276000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2B4A"/>
                </a:solidFill>
                <a:latin typeface="Arial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2000" y="2880000"/>
            <a:ext cx="10141200" cy="1440000"/>
          </a:xfrm>
          <a:prstGeom prst="rect">
            <a:avLst/>
          </a:prstGeom>
          <a:solidFill>
            <a:srgbClr val="2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999" y="3024000"/>
            <a:ext cx="9961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6A623"/>
                </a:solidFill>
                <a:latin typeface="Arial"/>
              </a:rPr>
              <a:t>Harness v1 = 상태 머신 + 문서 생태계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999" y="3528000"/>
            <a:ext cx="996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0E8"/>
                </a:solidFill>
                <a:latin typeface="Arial"/>
              </a:rPr>
              <a:t>Plan → Approval → Execute → Validate 흐름과
역할이 분리된 문서 생태계가 핵심입니다.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500000"/>
            <a:ext cx="900000" cy="1440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896000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2B4A"/>
                </a:solidFill>
                <a:latin typeface="Arial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2000" y="4500000"/>
            <a:ext cx="10141200" cy="1440000"/>
          </a:xfrm>
          <a:prstGeom prst="rect">
            <a:avLst/>
          </a:prstGeom>
          <a:solidFill>
            <a:srgbClr val="2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5999" y="4644000"/>
            <a:ext cx="9961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A169"/>
                </a:solidFill>
                <a:latin typeface="Arial"/>
              </a:rPr>
              <a:t>지금 바로 적용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999" y="5148000"/>
            <a:ext cx="996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0E8"/>
                </a:solidFill>
                <a:latin typeface="Arial"/>
              </a:rPr>
              <a:t>create-harness.sh로 30분이면 새 프로젝트에 셋업 완료.
팀에서 어떤 AI 도구를 쓰든 공통 구조로 시작할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6318000"/>
            <a:ext cx="1111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6A623"/>
                </a:solidFill>
                <a:latin typeface="Arial"/>
              </a:rPr>
              <a:t>함께 개선해 나갑시다 :)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Arial"/>
              </a:rPr>
              <a:t>31 / 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0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1999" cy="685800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753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50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B5D0"/>
                </a:solidFill>
                <a:latin typeface="Arial"/>
              </a:rPr>
              <a:t>박경서  ·  Kyungseo.Park@gmail.com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932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8B8"/>
                </a:solidFill>
                <a:latin typeface="Arial"/>
              </a:rPr>
              <a:t>github.com/kyungseo/base-msa-template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1200" y="651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Arial"/>
              </a:rPr>
              <a:t>32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0"/>
                </a:solidFill>
                <a:latin typeface="Arial"/>
              </a:rPr>
              <a:t>박경서 · Harness 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