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ple SD Gothic Neo"/>
              </a:rPr>
              <a:t>AI와 함께 개발하기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3C5FD"/>
                </a:solidFill>
                <a:latin typeface="Apple SD Gothic Neo"/>
              </a:rPr>
              <a:t>Vibe Coding &amp; AI Workflow Harness 실전 입문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749039"/>
            <a:ext cx="5943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pple SD Gothic Neo"/>
              </a:rPr>
              <a:t>v1.0  |  박경서 &lt;Kyungseo.Park@gmail.com&gt;  |  2026-05-16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4개의 파트로 여정을 따라갑니다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394960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Apple SD Gothic Neo"/>
              </a:rPr>
              <a:t>왜 시작했고 어디까지 왔나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51560"/>
            <a:ext cx="5394960" cy="2560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819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AI 트렌드 &amp; 기초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Apple SD Gothic Neo"/>
              </a:rPr>
              <a:t>Vibe Coding이란 무엇인가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394960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PART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Harness v1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Apple SD Gothic Neo"/>
              </a:rPr>
              <a:t>구조와 철학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94760"/>
            <a:ext cx="5394960" cy="2560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251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적용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Apple SD Gothic Neo"/>
              </a:rPr>
              <a:t>실전 사용법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AI 코딩 시대, 팀 개발 문화를 먼저 정립해야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1 ·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AI 코딩 도구 진화 타임라인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51615" cy="150876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60175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Courier New"/>
              </a:rPr>
              <a:t>2022  GitHub Copilot      →  코드 자동완성 시대</a:t>
            </a:r>
          </a:p>
          <a:p>
            <a:r>
              <a:rPr sz="1100">
                <a:solidFill>
                  <a:srgbClr val="111827"/>
                </a:solidFill>
                <a:latin typeface="Courier New"/>
              </a:rPr>
              <a:t>2023  ChatGPT 붐          →  프롬프트 엔지니어링 시대</a:t>
            </a:r>
          </a:p>
          <a:p>
            <a:r>
              <a:rPr sz="1100">
                <a:solidFill>
                  <a:srgbClr val="111827"/>
                </a:solidFill>
                <a:latin typeface="Courier New"/>
              </a:rPr>
              <a:t>2024  Cursor · Claude Code →  Agentic Coding 시대</a:t>
            </a:r>
          </a:p>
          <a:p>
            <a:r>
              <a:rPr sz="1100">
                <a:solidFill>
                  <a:srgbClr val="111827"/>
                </a:solidFill>
                <a:latin typeface="Courier New"/>
              </a:rPr>
              <a:t>2025+ Agent · Harness     →  AI Workflow 시대   ★ 우리는 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Apple SD Gothic Neo"/>
              </a:rPr>
              <a:t>  •  개인 생산성은 AI가 높여준다 — 이미 입증됨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8444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Apple SD Gothic Neo"/>
              </a:rPr>
              <a:t>  •  팀 단위 AI 워크플로우가 없으면? → 각자 다른 방식으로 AI를 쓰고, 맥락은 흩어지고, 결과물 품질은 제각각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51376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Apple SD Gothic Neo"/>
              </a:rPr>
              <a:t>  •  이 프로젝트의 목적: 팀이 함께 쓸 수 있는 AI 개발 문화·환경 정립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"도구를 쓰는 것과 도구를 잘 쓰는 것은 다르다. 팀 단위 AI 워크플로우가 필요한 이유."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실전 MSA 개발 위에서 AI 워크플로우를 동시에 검증한다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1 · 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51615" cy="55778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60175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                   base-msa-template                           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                                                               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┌───────────────────────────┐    ┌────────────────────────────┐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    PRODUCT AXIS         │    │       HARNESS AXIS  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                         │    │                     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Spring Boot MSA Template │◄──►│  AI Workflow Harness v1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                         │    │                     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· Gradle 멀티모듈         │    │  · STATUS.md  (상태)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· API Gateway            │    │  · Commands   (워크플로우)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· JWT Auth               │    │  · State Machine    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· Testcontainers         │    │  · 3-Tool 지원      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│  · K8s (Phase 2)          │    │  · Scaffolding             │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└───────────────────────────┘    └────────────────────────────┘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                                                               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│         "제품 개발 + 워크플로우 구축을 동시에 검증"                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└───────────────────────────────────────────────────────────────────┘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"단순 실험이 아닌 실전 타겟(MSA) 위에서 구축 — 상호 검증 구조"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12일, 125 커밋 — Phase 1과 Harness v1을 동시에 완성했다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1 · 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8321040" cy="265176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urier New"/>
              </a:rPr>
              <a:t>May 05──────────May 07──────May 11~12──────May 14~15──────May 16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   │                │             │              │              │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   ▼                ▼             ▼              ▼              ▼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Block 3~5       Block 7~10    AI Workflow    Harness        v1 완성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MSA 기능 구현   MSA Phase 1   정합성 시도    리팩토링       + 문서화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시작            완료          + 첫 회고       (HRF)+         완료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                                            하드닝(HRN)</a:t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111827"/>
                </a:solidFill>
                <a:latin typeface="Courier New"/>
              </a:rPr>
              <a:t>────────── MSA Product 개발 ───────────────── Harness 진화 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097280"/>
            <a:ext cx="283464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수치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45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총 커밋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Apple SD Gothic Neo"/>
              </a:rPr>
              <a:t>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기  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pple SD Gothic Neo"/>
              </a:rPr>
              <a:t>12일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feat: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  <a:latin typeface="Apple SD Gothic Neo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docs: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  <a:latin typeface="Apple SD Gothic Neo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fix: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474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chore+r: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3474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Apple SD Gothic Neo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"docs 커밋 41개 — 코드만큼 문서에 투자한 이유: AI가 읽는 문서이기 때문"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Phase 1 · Harness v1 완료 — Phase 2와 v2를 향해 준비됨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1 · 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39496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Apple SD Gothic Neo"/>
              </a:rPr>
              <a:t>지금 (완료)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PRODUCT: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6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Gradle 멀티모듈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03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JWT Auth + Redis Blacklist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51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API Gateway + Rate Limiting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986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Testcontainers 통합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93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HARNESS: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410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Manual-First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88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3-Tool 운영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36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STATUS.md 상태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Scaffolding 스크립트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5394960" cy="539496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Apple SD Gothic Neo"/>
              </a:rPr>
              <a:t>다음 (계획)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PRODUCT: 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56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K8s 배포 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03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Security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551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Prometheus / 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986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DB per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46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93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HARNESS: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410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Hook 기반 자동 강제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288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CI Gate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36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SSOT Config 도입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83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 · 자동 drift 탐지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검증 후 Public 전환 — 지금도 구조 전체를 참고할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1 ·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• Repo: github.com/kyungseo/base-msa-template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270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• 현재: Private (실사용 검증 중)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0253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• 전환 조건: Phase 2 안정화 + Harness v2 핵심 기능 완료 후 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780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• 포함 내용: Spring Boot MSA Template + AI Workflow Harness 전체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535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• Scaffolding: create-harness.sh 한 줄로 신규 프로젝트 즉시 적용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005840"/>
            <a:ext cx="5029200" cy="5394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051560"/>
            <a:ext cx="49377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59669"/>
                </a:solidFill>
                <a:latin typeface="Courier New"/>
              </a:rPr>
              <a:t>base-msa-template/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├── services/        # MSA 서비스 (auth/user/todo)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├── gateway/         # API Gateway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├── common/          # 공유 모듈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├── docs/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│   ├── STATUS.md    ← 현재 상태 Live Board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│   ├── backlog/     # Product / Harness 백로그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│   ├── decisions/   # 결정 기록 DR-001~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│   └── harness-protocol/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├── .claude/         # Claude Code 설정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├── .cursor/         # Cursor 설정</a:t>
            </a:r>
          </a:p>
          <a:p>
            <a:r>
              <a:rPr sz="1000">
                <a:solidFill>
                  <a:srgbClr val="059669"/>
                </a:solidFill>
                <a:latin typeface="Courier New"/>
              </a:rPr>
              <a:t>└── create-harness.sh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"자동완성"에서 "에이전트"로 — 우리는 Level 3~4 구간을 다룬다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2 · 1/4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051560"/>
            <a:ext cx="2560320" cy="50292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ple SD Gothic Neo"/>
              </a:rP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pple SD Gothic Neo"/>
              </a:rPr>
              <a:t>자동완성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Apple SD Gothic Neo"/>
              </a:rPr>
              <a:t>GitHub
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pple SD Gothic Neo"/>
              </a:rPr>
              <a:t>"다음 줄 예측"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51560"/>
            <a:ext cx="2560320" cy="50292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ple SD Gothic Neo"/>
              </a:rPr>
              <a:t>Level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Apple SD Gothic Neo"/>
              </a:rPr>
              <a:t>코드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Apple SD Gothic Neo"/>
              </a:rPr>
              <a:t>ChatGPT
Claude.ai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663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pple SD Gothic Neo"/>
              </a:rPr>
              <a:t>"요청하면 함수 작성"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051560"/>
            <a:ext cx="2560320" cy="502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Apple SD Gothic Neo"/>
              </a:rPr>
              <a:t>Level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에이전틱 코딩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Cursor
Claude Code
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663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BEAFE"/>
                </a:solidFill>
                <a:latin typeface="Apple SD Gothic Neo"/>
              </a:rPr>
              <a:t>"파일을 스스로 찾아서 수정"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1051560"/>
            <a:ext cx="25603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Apple SD Gothic Neo"/>
              </a:rPr>
              <a:t>Level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AI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Claude Code
+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4663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Apple SD Gothic Neo"/>
              </a:rPr>
              <a:t>"프로젝트 상태 관리 포함"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172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ple SD Gothic Neo"/>
              </a:rPr>
              <a:t>↑ 여기까지는 써봤다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6172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Apple SD Gothic Neo"/>
              </a:rPr>
              <a:t>↑ 여기가 오늘 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"이 프로젝트는 Level 3~4 구간을 실전에서 12일간 검증"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Vibe Coding은 강력하다 — 워크플로우 없이 쓰면 기술부채가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2 · 2/4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4297680"/>
          </a:xfrm>
          <a:prstGeom prst="rect">
            <a:avLst/>
          </a:prstGeom>
          <a:solidFill>
            <a:srgbClr val="FFE4E4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Apple SD Gothic Neo"/>
              </a:rPr>
              <a:t>⚠️  제어 없는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Apple SD Gothic Neo"/>
              </a:rPr>
              <a:t>✗ 세션마다 맥락 초기화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938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Apple SD Gothic Neo"/>
              </a:rPr>
              <a:t>✗ 결정 이유를 기억 못함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225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Apple SD Gothic Neo"/>
              </a:rPr>
              <a:t>✗ AI가 임의로 scope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Apple SD Gothic Neo"/>
              </a:rPr>
              <a:t>✗ 무엇이 완료됐는지 불명확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Apple SD Gothic Neo"/>
              </a:rPr>
              <a:t>✗ 되돌릴 방법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0215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Apple SD Gothic Neo"/>
              </a:rPr>
              <a:t>✗ 팀원이 맥락을 이해할 수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394960" cy="429768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Apple SD Gothic Neo"/>
              </a:rPr>
              <a:t>✅  Harness 기반 Vibe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3619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Apple SD Gothic Neo"/>
              </a:rPr>
              <a:t>✓ STATUS.md로 세션 간 상태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9384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Apple SD Gothic Neo"/>
              </a:rPr>
              <a:t>✓ DR에 결정 근거 + 되돌리기 비용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225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Apple SD Gothic Neo"/>
              </a:rPr>
              <a:t>✓ Plan → Approve 게이트로 scope 통제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157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Apple SD Gothic Neo"/>
              </a:rPr>
              <a:t>✓ Done Criteria + Validation 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Apple SD Gothic Neo"/>
              </a:rPr>
              <a:t>✓ Reversal Cost 명시, Checkpoint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0215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Apple SD Gothic Neo"/>
              </a:rPr>
              <a:t>✓ 추적 가능한 의사결정 체계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60"/>
            <a:ext cx="11460175" cy="59436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Apple SD Gothic Neo"/>
              </a:rPr>
              <a:t>Vibe Coding 자체가 문제가 아니다. 워크플로우 없는 Vibe Coding이 문제다.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"AI는 빠르게 실행하고 싶어한다. 방향을 아는 것은 개발자와 워크플로우다."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Harness는 4가지 근본 문제를 구조로 해결한다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2 · 3/4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2514600"/>
          </a:xfrm>
          <a:prstGeom prst="rect">
            <a:avLst/>
          </a:prstGeom>
          <a:solidFill>
            <a:srgbClr val="E9ECE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Apple SD Gothic Neo"/>
              </a:rPr>
              <a:t>문제 1: 맥락 유실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세션이 끊기면
AI는 아무것도 모른다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5394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→ STATUS.md
세션 간 상태 유지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51560"/>
            <a:ext cx="5394960" cy="2514600"/>
          </a:xfrm>
          <a:prstGeom prst="rect">
            <a:avLst/>
          </a:prstGeom>
          <a:solidFill>
            <a:srgbClr val="E9ECE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Apple SD Gothic Neo"/>
              </a:rPr>
              <a:t>문제 2: 결정 표류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"왜 이렇게 결정했지?"
추적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394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→ DR (Decision Record)
근거 + 비용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394960" cy="2514600"/>
          </a:xfrm>
          <a:prstGeom prst="rect">
            <a:avLst/>
          </a:prstGeom>
          <a:solidFill>
            <a:srgbClr val="E9ECE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Apple SD Gothic Neo"/>
              </a:rPr>
              <a:t>문제 3: 품질 게이트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검증 없이 완료 처리
→ 조용히 버그 유입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5394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66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→ Plan / Validate
게이트 강제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94760"/>
            <a:ext cx="5394960" cy="2514600"/>
          </a:xfrm>
          <a:prstGeom prst="rect">
            <a:avLst/>
          </a:prstGeom>
          <a:solidFill>
            <a:srgbClr val="E9ECE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Apple SD Gothic Neo"/>
              </a:rPr>
              <a:t>문제 4: 팀 공유 어려움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내가 쓰는 방식을
팀원도 쓸 수 있나?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074920"/>
            <a:ext cx="5394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5166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→ create-harness.sh
즉시 적용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v1은 상위 10~15% — v2에서 자동화 단계로 도약한다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2 · 4/4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51615" cy="29718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60175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11827"/>
                </a:solidFill>
                <a:latin typeface="Courier New"/>
              </a:rPr>
              <a:t>하위 40%           중간 40%          상위 15%              상위 5%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──────────         ──────────        ──────────             ──────────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CLAUDE.md만         CLAUDE.md         Slash Command          Hook / CI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또는 없음            + Task Prompt     + STATUS + DR           자동 강제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              + 간단 Backlog    + Backlog               검증 스크립트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                                + Protocol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                                     ▲                       ▲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                                 v1 현재                 v2 목표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114800"/>
          <a:ext cx="11460173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565"/>
                <a:gridCol w="2865043"/>
                <a:gridCol w="4297565"/>
              </a:tblGrid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v1 현재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v2 목표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규칙 명문화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강제력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59E0B"/>
                          </a:solidFill>
                          <a:latin typeface="Apple SD Gothic Neo"/>
                        </a:rPr>
                        <a:t>⚠️ Agent 자율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 Hook/CI 자동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상태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+ 자동 stale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739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Apple SD Gothic Neo"/>
              </a:rPr>
              <a:t>Source: docs/retrospectives/harness-evaluation-20260514.md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4원칙 위에 STATUS.md 중심 문서 생태계를 구축한다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1/7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260604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ple SD Gothic Neo"/>
              </a:rP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같은 상태에서
같은 절차로
재개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40" y="1051560"/>
            <a:ext cx="260604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ple SD Gothic Neo"/>
              </a:rPr>
              <a:t>Stateful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600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STATUS.md 중심
현재 상태 유지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051560"/>
            <a:ext cx="260604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143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ple SD Gothic Neo"/>
              </a:rPr>
              <a:t>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00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Plan→Approve
→Execute
→Validate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21240" y="1051560"/>
            <a:ext cx="260604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143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ple SD Gothic Neo"/>
              </a:rPr>
              <a:t>Failure-first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600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실패/복구 경로
사전 명시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문서 생태계 (Context Routing Map)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55848"/>
            <a:ext cx="11551615" cy="28346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01568"/>
            <a:ext cx="1146017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11827"/>
                </a:solidFill>
                <a:latin typeface="Courier New"/>
              </a:rPr>
              <a:t>STATUS.md (Live Board)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  ├── backlog/ PHASE{n}.md / HARNESS.md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  ├── decisions/ DR-*.md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  └── archive/ 완료 이력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HARNESS-PROTOCOL.md     ──→  STATUS.md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HARNESS-QUICK-REFERENCE ──→  STATUS.md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docs/AGENT-WORKFLOW.md  ──→  STATUS.md  (3-Tool 공통 규칙)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WORKFLOW-MANUAL.md      · ·→  HARNESS-PROTOCOL.md  (사람용)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각 문서는 하나의 역할만 갖는다 — 충돌 시 우선순위가 명확하다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2/7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60173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002"/>
                <a:gridCol w="4825336"/>
                <a:gridCol w="3015835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문서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Canonical Source 역할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충돌 우선순위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STATUS.md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현재 상태의 유일한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실제 파일 상태 우선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docs/decisions/DR-*.md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기술·운영 결정의 근거 원본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DR 파일 우선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HARNESS-PROTOCOL.md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Agent 실행 규칙 허브 (문서 지도)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docs/harness-protocol/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각 규칙 세부 사항의 canonical source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상세 문서 우선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docs/AGENT-WORKFLOW.md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3-Tool 공통 운영 규칙 원본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CLAUDE.md / AGENTS.md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도구별 진입점 (규칙 중복 금지)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docs/WORKFLOW-MANUAL.md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사람이 읽는 매뉴얼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Agent 규칙 원본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257800"/>
            <a:ext cx="11460175" cy="77724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원칙: 하나의 사실은 하나의 문서에만 존재한다
→ 문서 간 충돌 없음  → drift 없음  → Agent 혼선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"SSOT 원칙이 없으면 문서가 늘어날수록 어느 것이 맞는지 알 수 없게 된다"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Plan → Approve → Execute → Validate — 게이트 없이 완료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3/7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8138160" cy="56692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8046720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11827"/>
                </a:solidFill>
                <a:latin typeface="Courier New"/>
              </a:rPr>
              <a:t>                   ┌────────┐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┌───►│  INIT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└───┬────┘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    │ STATUS.md 확인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┌───▼────┐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│  PLAN  │◄──────────────────────┐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└───┬────┘  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    │ 계획 보고                   │ 재계획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┌───▼──────┐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│ APPROVAL │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└───┬──────┘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    │ 사용자 승인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┌───▼─────┐ 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│ EXECUTE │ 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└───┬─────┘   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    │ 구현 완료  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┌───▼──────────┐              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│   VALIDATE   │──[실패]──►┌──────┴──┐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└───┬──────────┘           │  FAIL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    │ 검증 통과             └──┬──────┘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┌───▼──────────┐              │ 원인 분석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│  CHECKPOINT  │           ┌──▼───────┐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└───┬──────────┘           │ RECOVER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    │ STATUS 갱신           └──────────┘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│    ┌───▼────┐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└────│  END   │</a:t>
            </a:r>
          </a:p>
          <a:p>
            <a:r>
              <a:rPr sz="850">
                <a:solidFill>
                  <a:srgbClr val="111827"/>
                </a:solidFill>
                <a:latin typeface="Courier New"/>
              </a:rPr>
              <a:t>                   └────────┘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011680"/>
            <a:ext cx="3108960" cy="1005840"/>
          </a:xfrm>
          <a:prstGeom prst="rect">
            <a:avLst/>
          </a:prstGeom>
          <a:solidFill>
            <a:srgbClr val="FFF3CD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Apple SD Gothic Neo"/>
              </a:rPr>
              <a:t>L3 변경: PLAN.md 로드 필수
scope 확장: 재승인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657600"/>
            <a:ext cx="3108960" cy="777240"/>
          </a:xfrm>
          <a:prstGeom prst="rect">
            <a:avLst/>
          </a:prstGeom>
          <a:solidFill>
            <a:srgbClr val="FFE4E4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374903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pple SD Gothic Neo"/>
              </a:rPr>
              <a:t>FAIL 시 commit / checkpoint 금지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"VALIDATE 실패 시 checkpoint·commit 금지 — 게이트 준수가 품질 보장의 핵심"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Claude Code · Cursor · Codex — 같은 규칙, 다른 진입점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4/7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52120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ple SD Gothic Neo"/>
              </a:rPr>
              <a:t>공통 규칙 레이어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</a:rPr>
              <a:t>docs/AGENT-WORKFLOW.md
Context Routing · State Machine · STATUS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291840" cy="347472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pple SD Gothic Neo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urier New"/>
              </a:rPr>
              <a:t>CLAUDE.md
.claude/commands/
.claude/rules/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3291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Apple SD Gothic Neo"/>
              </a:rPr>
              <a:t>Slash cmd 자동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pple SD Gothic Neo"/>
              </a:rPr>
              <a:t>강점: 명령/규칙
가장 정밀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743200"/>
            <a:ext cx="3291840" cy="347472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83464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pple SD Gothic Neo"/>
              </a:rPr>
              <a:t>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375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urier New"/>
              </a:rPr>
              <a:t>.cursor/rules/*.mdc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160520"/>
            <a:ext cx="3291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Apple SD Gothic Neo"/>
              </a:rPr>
              <a:t>Slash cmd 수동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pple SD Gothic Neo"/>
              </a:rPr>
              <a:t>강점: 에디터 통합
실시간 컨텍스트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2743200"/>
            <a:ext cx="3291840" cy="347472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83464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pple SD Gothic Neo"/>
              </a:rP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375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urier New"/>
              </a:rPr>
              <a:t>AGENTS.md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4160520"/>
            <a:ext cx="3291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Apple SD Gothic Neo"/>
              </a:rPr>
              <a:t>수동 절차 (Mapping)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pple SD Gothic Neo"/>
              </a:rPr>
              <a:t>강점: 독립 실행
API 자동화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STATUS.md는 AI의 기억이자 팀의 현재 상태 단일 기준이다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5/7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7724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Apple SD Gothic Neo"/>
              </a:rPr>
              <a:t>[SCREENSHOT]
docs/STATUS.md
— Active Work + Recent Decisions 섹션 캡처 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234440"/>
            <a:ext cx="3429000" cy="123444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3075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①  Active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73352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ID · Priority · Status · Risk · Done Criteria · Verification
→ Done 항목도 유지 — 세션 간 이력 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834640"/>
            <a:ext cx="3429000" cy="123444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907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②  Recent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73552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후속 행동을 바꾸는 결정만 기록
최근 8개 rolling window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434840"/>
            <a:ext cx="3429000" cy="123444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5079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③  Next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873752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다음 세션 할 일 우선순위 (번호 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"Agent는 항상 STATUS.md에서 시작. STATUS가 stale하면 워크플로우 전체가 흔들린다."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create-harness.sh 하나로 신규 프로젝트에 즉시 Harness가 붙는다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6/7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51615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601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59669"/>
                </a:solidFill>
                <a:latin typeface="Courier New"/>
              </a:rPr>
              <a:t>$ bash create-harness.sh --profile spring-boot ./my-new-project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7132320" cy="448056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7040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11827"/>
                </a:solidFill>
                <a:latin typeface="Courier New"/>
              </a:rPr>
              <a:t>신규 프로젝트에 자동 생성되는 구조: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docs/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├── STATUS.md              ← 즉시 세션 시작 가능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├── HARNESS-PROTOCOL.md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├── HARNESS-QUICK-REFERENCE.md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├── backlog/HARNESS.md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└── harness-protocol/      (6개 상세 문서)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.claude/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├── commands/              (8개 커맨드)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└── rules/                 (git-workflow, docs-workflow)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.cursor/rules/             (Cursor 규칙)</a:t>
            </a:r>
          </a:p>
          <a:p>
            <a:r>
              <a:rPr sz="1000">
                <a:solidFill>
                  <a:srgbClr val="111827"/>
                </a:solidFill>
                <a:latin typeface="Courier New"/>
              </a:rPr>
              <a:t>CLAUDE.md / AGENTS.md / AGENT-WORKFLOW.md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508760"/>
            <a:ext cx="4343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636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urier New"/>
              </a:rPr>
              <a:t>--profile generic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830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ple SD Gothic Neo"/>
              </a:rPr>
              <a:t>기술 스택 중립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130552"/>
            <a:ext cx="4343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18541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urier New"/>
              </a:rPr>
              <a:t>--profile spring-boot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4048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ple SD Gothic Neo"/>
              </a:rPr>
              <a:t>Spring Boot 보조 규칙 포함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752344"/>
            <a:ext cx="4343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8072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urier New"/>
              </a:rPr>
              <a:t>--existing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02666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ple SD Gothic Neo"/>
              </a:rPr>
              <a:t>기존 프로젝트 overlay (덮어쓰기 없음)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v1은 실전에서 쓸 만하다 — v2는 강제력을 더한다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3 · 7/7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60173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565"/>
                <a:gridCol w="2865043"/>
                <a:gridCol w="4297565"/>
              </a:tblGrid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v1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v2 목표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상태 관리 (STATUS.md)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+ 자동 stale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Plan/Approve 게이트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 Manual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+ CI 강제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+ 자동 스크립트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결정 기록 (DR)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 Manual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+ 자동 제안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3-Tool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Scaffolding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59669"/>
                          </a:solidFill>
                          <a:latin typeface="Apple SD Gothic Neo"/>
                        </a:rPr>
                        <a:t>✅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+ 템플릿 자동 갱신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Stop 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59E0B"/>
                          </a:solidFill>
                          <a:latin typeface="Apple SD Gothic Neo"/>
                        </a:rPr>
                        <a:t>🔄 기본만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완전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SSOT Config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DC2626"/>
                          </a:solidFill>
                          <a:latin typeface="Apple SD Gothic Neo"/>
                        </a:rPr>
                        <a:t>❌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✅ .harness/config.json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"Manual-first가 안정화되면 자동화가 의미를 갖는다 — 순서가 중요"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3단계로 어떤 프로젝트에도 Harness를 붙일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4 · 1/6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33375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  <a:latin typeface="Apple SD Gothic Neo"/>
              </a:rPr>
              <a:t>스캐폴딩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34290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337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59669"/>
                </a:solidFill>
                <a:latin typeface="Courier New"/>
              </a:rPr>
              <a:t>$ bash create-harness.sh \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  --profile spring-boot \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  ./my-project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pple SD Gothic Neo"/>
              </a:rPr>
              <a:t>Harness 파일 자동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051560"/>
            <a:ext cx="33375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0972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  <a:latin typeface="Apple SD Gothic Neo"/>
              </a:rPr>
              <a:t>첫 커밋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947672"/>
            <a:ext cx="34290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93392"/>
            <a:ext cx="3337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59669"/>
                </a:solidFill>
                <a:latin typeface="Courier New"/>
              </a:rPr>
              <a:t>git add .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git commit \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  -m "chore: harness 초기 구성"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114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pple SD Gothic Neo"/>
              </a:rPr>
              <a:t>구조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51560"/>
            <a:ext cx="33375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0972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  <a:latin typeface="Apple SD Gothic Neo"/>
              </a:rPr>
              <a:t>첫 세션 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947672"/>
            <a:ext cx="34290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93392"/>
            <a:ext cx="3337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59669"/>
                </a:solidFill>
                <a:latin typeface="Courier New"/>
              </a:rPr>
              <a:t>claude 실행 후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&gt; /start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→ STATUS.md 확인</a:t>
            </a:r>
          </a:p>
          <a:p>
            <a:r>
              <a:rPr sz="950">
                <a:solidFill>
                  <a:srgbClr val="059669"/>
                </a:solidFill>
                <a:latin typeface="Courier New"/>
              </a:rPr>
              <a:t>→ 첫 작업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74920"/>
            <a:ext cx="11460175" cy="475488"/>
          </a:xfrm>
          <a:prstGeom prst="rect">
            <a:avLst/>
          </a:prstGeom>
          <a:solidFill>
            <a:srgbClr val="E9ECE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66360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Apple SD Gothic Neo"/>
              </a:rPr>
              <a:t>※ 기존 프로젝트: --existing 플래그 사용 (기존 파일 덮어쓰기 없음)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세션 시작부터 완료까지 — 5단계 사이클을 반복한다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4 · 2/6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78408"/>
            <a:ext cx="11338560" cy="56692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11827"/>
                </a:solidFill>
                <a:latin typeface="Courier New"/>
              </a:rPr>
              <a:t> ┌────────────────────────────────────────────────────────────────┐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               워크플로우 사이클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 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/start  ──→  STATUS.md 확인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▼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/pick 또는 /work &lt;ID&gt;  ──→  작업 선택 + Plan 작성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▼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★ 사용자 승인 APPROVAL  ← 핵심 게이트 ①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▼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구현 실행 EXECUTE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▼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★ 검증 VALIDATE  ─── 실패 ──→  FAIL/RECOVER ──┐  ← 게이트 ②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                                         │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통과                               재계획│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▼                                          │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/done  ──→  완료 보고 + STATUS 갱신  ◄──────────┘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│                 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│      └──→  다음 사이클로                                        │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└────────────────────────────────────────────────────────────────┘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pple SD Gothic Neo"/>
              </a:rPr>
              <a:t>"APPROVAL과 VALIDATE — 이 두 게이트를 지키는 것이 Harness의 핵심이다"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STATUS.md 4개 섹션이 현재 상태의 전부다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4 · 3/6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858000" cy="5120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Apple SD Gothic Neo"/>
              </a:rPr>
              <a:t>[SCREENSHOT]
docs/STATUS.md — 전체 구조
(4개 섹션 모두 보이도록)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005840"/>
            <a:ext cx="4206240" cy="114300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0789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① 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44475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현재 Phase, 진행 중 Focus, 참조 문서 링크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286000"/>
            <a:ext cx="4206240" cy="114300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3591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② Active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72491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ID | Priority | Status | Risk | Done Criteria
Done 항목도 보존 → 세션 간 이력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66160"/>
            <a:ext cx="4206240" cy="114300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39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③ Recent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00507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후속 행동을 바꾸는 결정만 기록
최근 8개 rolling window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846320"/>
            <a:ext cx="4206240" cy="1143000"/>
          </a:xfrm>
          <a:prstGeom prst="rect">
            <a:avLst/>
          </a:prstGeom>
          <a:solidFill>
            <a:srgbClr val="E9ECE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9194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pple SD Gothic Neo"/>
              </a:rPr>
              <a:t>④ Next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28523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Apple SD Gothic Neo"/>
              </a:rPr>
              <a:t>다음 세션 할 일 (우선순위 번호 순)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8개 커맨드로 전체 워크플로우를 운영한다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4 · 4/6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60173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511"/>
                <a:gridCol w="4718895"/>
                <a:gridCol w="4044767"/>
              </a:tblGrid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커맨드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언제 쓰나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세션 시작, STATUS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새 세션 첫 번째로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/pick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다음 작업 추천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뭘 할지 모를 때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/work 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특정 작업 계획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할 작업이 정해졌을 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/resume &lt;ID&gt;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중단 작업 재개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이전에 멈춘 작업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완료 보고 + STATUS 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작업 마칠 때마다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/health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문서 정합성 점검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주기적으로 / 의심될 때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새 작업 항목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아이디어가 생겼을 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/doc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발표·보고 산출물 생성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문서/PPT 만들 때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563EB"/>
                </a:solidFill>
                <a:latin typeface="Apple SD Gothic Neo"/>
              </a:rPr>
              <a:t>Tip: Claude Code에서 / 를 입력하면 커맨드 자동완성이 지원됩니다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한 사이클 전체: 작업 선택부터 커밋까지 실제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4 · 5/6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51615" cy="56692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60175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11827"/>
                </a:solidFill>
                <a:latin typeface="Courier New"/>
              </a:rPr>
              <a:t>1. 작업 시작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👤 &gt; /work HRN-013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🤖 HRN-013: create-harness.sh 스캐폴딩 스크립트 작업입니다.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위험도: L2 (일반)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변경 범위: create-harness.sh 신규, WORKFLOW-MANUAL §8 재구성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Done Criteria: bash -n 통과, generic/spring-boot 프로파일 생성 확인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진행할까요?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2. 승인 → 실행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👤 &gt; ㅇㅋ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🤖 [구현 중 ...]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3. 검증 보고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🤖 ✅ bash -n (문법 오류 없음)  ✅ generic profile 생성 확인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✅ spring-boot profile 포함 파일 확인  ✅ --existing dry-run skip 확인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4. STATUS 갱신 제안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🤖 STATUS Update Proposal: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   · Active Work: HRN-013 → Done  승인하시겠습니까?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5. 커밋</a:t>
            </a:r>
          </a:p>
          <a:p>
            <a:r>
              <a:rPr sz="950">
                <a:solidFill>
                  <a:srgbClr val="111827"/>
                </a:solidFill>
                <a:latin typeface="Courier New"/>
              </a:rPr>
              <a:t>   feat: add create-harness.sh 스캐폴딩 스크립트 + §8 초기화 가이드 재구성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이 4가지만 피하면 Harness가 제대로 작동한다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37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pple SD Gothic Neo"/>
              </a:rPr>
              <a:t>PART 4 · 6/6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6017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052"/>
                <a:gridCol w="4011061"/>
                <a:gridCol w="4011061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❌ 실수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🔴 증상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pple SD Gothic Neo"/>
                        </a:rPr>
                        <a:t>✅ 해결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STATUS.md 건너뛰기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다음 세션 맥락 없음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AI가 엉뚱한 작업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반드시 /start로 세션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Plan 없이 바로 구현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Scope 확장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되돌리기 어려운 변경 발생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/work → 계획 확정 후 진행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L3 게이트 무시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아키텍처 변경이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문서 없이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PLAN.md 로드 + 엄격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DR 없이 결정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"왜 이렇게 됐지?" 추적 불가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827"/>
                          </a:solidFill>
                          <a:latin typeface="Apple SD Gothic Neo"/>
                        </a:rPr>
                        <a:t>되돌리기 비용 Medium 이상 = DR 필수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754880"/>
            <a:ext cx="11460175" cy="109728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Apple SD Gothic Neo"/>
              </a:rPr>
              <a:t>AI는 빠르게 실행하고 싶어한다.
게이트를 지키는 것은 개발자의 역할이다.
규칙을 지키면 AI가 강력해지고, 무시하면 기술부채가 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오늘 얻어갈 것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33375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EB"/>
                </a:solidFill>
                <a:latin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Vibe Coding에는
워크플로우가 필요하다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2423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3C5FD"/>
                </a:solidFill>
                <a:latin typeface="Apple SD Gothic Neo"/>
              </a:rPr>
              <a:t>맥락 관리
결정 추적
품질 게이트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051560"/>
            <a:ext cx="33375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188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EB"/>
                </a:solidFill>
                <a:latin typeface="Apple SD Gothic Ne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Harness v1은
실전에서 쓸 만한
상태 머신 기반 운영 체계다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3108960"/>
            <a:ext cx="2423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3C5FD"/>
                </a:solidFill>
                <a:latin typeface="Apple SD Gothic Neo"/>
              </a:rPr>
              <a:t>Manual-first →
v2에서 자동화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051560"/>
            <a:ext cx="33375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188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EB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8288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지금 바로
적용 가능하다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108960"/>
            <a:ext cx="2423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20040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3C5FD"/>
                </a:solidFill>
                <a:latin typeface="Apple SD Gothic Neo"/>
              </a:rPr>
              <a:t>create-harness.sh
한 줄로 신규 프로젝트에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pple SD Gothic Neo"/>
              </a:rPr>
              <a:t>Repo: github.com/kyungseo/base-msa-template  (검증 후 Public 전환 예정)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pple SD Gothic Neo"/>
              </a:rP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3749039"/>
            <a:ext cx="5029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ple SD Gothic Neo"/>
              </a:rPr>
              <a:t>박경서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708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Apple SD Gothic Neo"/>
              </a:rPr>
              <a:t>Kyungseo.Park@gmail.com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C5FD"/>
                </a:solidFill>
                <a:latin typeface="Apple SD Gothic Neo"/>
              </a:rPr>
              <a:t>Repo: github.com/kyungseo/base-msa-template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