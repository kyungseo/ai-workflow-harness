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157eb3bcf74130" /><Relationship Type="http://schemas.openxmlformats.org/officeDocument/2006/relationships/extended-properties" Target="/docProps/app.xml" Id="R04421da847874338" /><Relationship Type="http://schemas.openxmlformats.org/officeDocument/2006/relationships/officeDocument" Target="/ppt/presentation.xml" Id="Rcb9a9d8dae46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97949645bd4079"/>
  </p:sldMasterIdLst>
  <p:notesMasterIdLst>
    <p:notesMasterId xmlns:r="http://schemas.openxmlformats.org/officeDocument/2006/relationships" r:id="Rc667c23531e24e27"/>
  </p:notesMasterIdLst>
  <p:sldIdLst>
    <p:sldId xmlns:r="http://schemas.openxmlformats.org/officeDocument/2006/relationships" id="256" r:id="R21989e16bccd4049"/>
    <p:sldId xmlns:r="http://schemas.openxmlformats.org/officeDocument/2006/relationships" id="257" r:id="R74cae31202c346c2"/>
    <p:sldId xmlns:r="http://schemas.openxmlformats.org/officeDocument/2006/relationships" id="258" r:id="R34798a0cdaf34079"/>
    <p:sldId xmlns:r="http://schemas.openxmlformats.org/officeDocument/2006/relationships" id="259" r:id="Rc411c4034b174b6b"/>
    <p:sldId xmlns:r="http://schemas.openxmlformats.org/officeDocument/2006/relationships" id="260" r:id="R9e64ed211e9241c0"/>
    <p:sldId xmlns:r="http://schemas.openxmlformats.org/officeDocument/2006/relationships" id="261" r:id="R6ff4acdab80d4901"/>
    <p:sldId xmlns:r="http://schemas.openxmlformats.org/officeDocument/2006/relationships" id="262" r:id="R53f0b7f762ae4166"/>
    <p:sldId xmlns:r="http://schemas.openxmlformats.org/officeDocument/2006/relationships" id="263" r:id="Rb9bbd6b5131745e2"/>
    <p:sldId xmlns:r="http://schemas.openxmlformats.org/officeDocument/2006/relationships" id="264" r:id="Rb8ac8a324d39430a"/>
    <p:sldId xmlns:r="http://schemas.openxmlformats.org/officeDocument/2006/relationships" id="265" r:id="Rfffffb9002c34f00"/>
    <p:sldId xmlns:r="http://schemas.openxmlformats.org/officeDocument/2006/relationships" id="266" r:id="Raa8b637f59df4d1b"/>
    <p:sldId xmlns:r="http://schemas.openxmlformats.org/officeDocument/2006/relationships" id="267" r:id="R41f318fd0db645cb"/>
    <p:sldId xmlns:r="http://schemas.openxmlformats.org/officeDocument/2006/relationships" id="268" r:id="Ra61b9dedb976495d"/>
    <p:sldId xmlns:r="http://schemas.openxmlformats.org/officeDocument/2006/relationships" id="269" r:id="R90f0464d380848e6"/>
    <p:sldId xmlns:r="http://schemas.openxmlformats.org/officeDocument/2006/relationships" id="270" r:id="Re927ad46a07a40e9"/>
    <p:sldId xmlns:r="http://schemas.openxmlformats.org/officeDocument/2006/relationships" id="271" r:id="R95b14a3821644a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7949645bd4079" /><Relationship Type="http://schemas.openxmlformats.org/officeDocument/2006/relationships/theme" Target="/ppt/theme/theme1.xml" Id="R6e01006b916b4dc5" /><Relationship Type="http://schemas.openxmlformats.org/officeDocument/2006/relationships/notesMaster" Target="/ppt/notesMasters/notesMaster1.xml" Id="Rc667c23531e24e27" /><Relationship Type="http://schemas.openxmlformats.org/officeDocument/2006/relationships/presProps" Target="/ppt/presProps.xml" Id="R1944cb8e47d04a6a" /><Relationship Type="http://schemas.openxmlformats.org/officeDocument/2006/relationships/viewProps" Target="/ppt/viewProps.xml" Id="R5936f5da09bf4f1f" /><Relationship Type="http://schemas.openxmlformats.org/officeDocument/2006/relationships/tableStyles" Target="/ppt/tableStyles.xml" Id="R559e7933057f4a8e" /><Relationship Type="http://schemas.openxmlformats.org/officeDocument/2006/relationships/slide" Target="/ppt/slides/slide1.xml" Id="R21989e16bccd4049" /><Relationship Type="http://schemas.openxmlformats.org/officeDocument/2006/relationships/slide" Target="/ppt/slides/slide2.xml" Id="R74cae31202c346c2" /><Relationship Type="http://schemas.openxmlformats.org/officeDocument/2006/relationships/slide" Target="/ppt/slides/slide3.xml" Id="R34798a0cdaf34079" /><Relationship Type="http://schemas.openxmlformats.org/officeDocument/2006/relationships/slide" Target="/ppt/slides/slide4.xml" Id="Rc411c4034b174b6b" /><Relationship Type="http://schemas.openxmlformats.org/officeDocument/2006/relationships/slide" Target="/ppt/slides/slide5.xml" Id="R9e64ed211e9241c0" /><Relationship Type="http://schemas.openxmlformats.org/officeDocument/2006/relationships/slide" Target="/ppt/slides/slide6.xml" Id="R6ff4acdab80d4901" /><Relationship Type="http://schemas.openxmlformats.org/officeDocument/2006/relationships/slide" Target="/ppt/slides/slide7.xml" Id="R53f0b7f762ae4166" /><Relationship Type="http://schemas.openxmlformats.org/officeDocument/2006/relationships/slide" Target="/ppt/slides/slide8.xml" Id="Rb9bbd6b5131745e2" /><Relationship Type="http://schemas.openxmlformats.org/officeDocument/2006/relationships/slide" Target="/ppt/slides/slide9.xml" Id="Rb8ac8a324d39430a" /><Relationship Type="http://schemas.openxmlformats.org/officeDocument/2006/relationships/slide" Target="/ppt/slides/slide10.xml" Id="Rfffffb9002c34f00" /><Relationship Type="http://schemas.openxmlformats.org/officeDocument/2006/relationships/slide" Target="/ppt/slides/slide11.xml" Id="Raa8b637f59df4d1b" /><Relationship Type="http://schemas.openxmlformats.org/officeDocument/2006/relationships/slide" Target="/ppt/slides/slide12.xml" Id="R41f318fd0db645cb" /><Relationship Type="http://schemas.openxmlformats.org/officeDocument/2006/relationships/slide" Target="/ppt/slides/slide13.xml" Id="Ra61b9dedb976495d" /><Relationship Type="http://schemas.openxmlformats.org/officeDocument/2006/relationships/slide" Target="/ppt/slides/slide14.xml" Id="R90f0464d380848e6" /><Relationship Type="http://schemas.openxmlformats.org/officeDocument/2006/relationships/slide" Target="/ppt/slides/slide15.xml" Id="Re927ad46a07a40e9" /><Relationship Type="http://schemas.openxmlformats.org/officeDocument/2006/relationships/slide" Target="/ppt/slides/slide16.xml" Id="R95b14a3821644a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491e2a183b46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b3400f548a4dcd" /><Relationship Type="http://schemas.openxmlformats.org/officeDocument/2006/relationships/notesMaster" Target="/ppt/notesMasters/notesMaster1.xml" Id="Rbb9ffdee02f84a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6838336e840c3" /><Relationship Type="http://schemas.openxmlformats.org/officeDocument/2006/relationships/notesMaster" Target="/ppt/notesMasters/notesMaster1.xml" Id="R9c9927ff39094a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212f4b734451e" /><Relationship Type="http://schemas.openxmlformats.org/officeDocument/2006/relationships/notesMaster" Target="/ppt/notesMasters/notesMaster1.xml" Id="Rbeea1c6dd943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15616e0af04620" /><Relationship Type="http://schemas.openxmlformats.org/officeDocument/2006/relationships/notesMaster" Target="/ppt/notesMasters/notesMaster1.xml" Id="Rd79491d8f89744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ec44894b094e10" /><Relationship Type="http://schemas.openxmlformats.org/officeDocument/2006/relationships/notesMaster" Target="/ppt/notesMasters/notesMaster1.xml" Id="R9678cd828d0440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32f85b4d14ca7" /><Relationship Type="http://schemas.openxmlformats.org/officeDocument/2006/relationships/notesMaster" Target="/ppt/notesMasters/notesMaster1.xml" Id="Ra76bf74144864d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41a768fa4e40d7" /><Relationship Type="http://schemas.openxmlformats.org/officeDocument/2006/relationships/notesMaster" Target="/ppt/notesMasters/notesMaster1.xml" Id="R9d81e0ec9f22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e27af0caf44510" /><Relationship Type="http://schemas.openxmlformats.org/officeDocument/2006/relationships/notesMaster" Target="/ppt/notesMasters/notesMaster1.xml" Id="R1112b17110d049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1770edd1c4650" /><Relationship Type="http://schemas.openxmlformats.org/officeDocument/2006/relationships/notesMaster" Target="/ppt/notesMasters/notesMaster1.xml" Id="Rfd0f611c1e6f44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d66f137e024862" /><Relationship Type="http://schemas.openxmlformats.org/officeDocument/2006/relationships/notesMaster" Target="/ppt/notesMasters/notesMaster1.xml" Id="Rc20f585c5a0e48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c325fe09ec4e6c" /><Relationship Type="http://schemas.openxmlformats.org/officeDocument/2006/relationships/notesMaster" Target="/ppt/notesMasters/notesMaster1.xml" Id="R4e4a2cb0bb5d40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662da3402a4b8d" /><Relationship Type="http://schemas.openxmlformats.org/officeDocument/2006/relationships/notesMaster" Target="/ppt/notesMasters/notesMaster1.xml" Id="R536f75e49a2246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8d5dea20fb4533" /><Relationship Type="http://schemas.openxmlformats.org/officeDocument/2006/relationships/notesMaster" Target="/ppt/notesMasters/notesMaster1.xml" Id="Rcafcd754d0df4d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f492e5b684441a" /><Relationship Type="http://schemas.openxmlformats.org/officeDocument/2006/relationships/notesMaster" Target="/ppt/notesMasters/notesMaster1.xml" Id="R7406cc3c1c6540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ea45188c88411b" /><Relationship Type="http://schemas.openxmlformats.org/officeDocument/2006/relationships/notesMaster" Target="/ppt/notesMasters/notesMaster1.xml" Id="R17265c2827724f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4f1f07012e4a48" /><Relationship Type="http://schemas.openxmlformats.org/officeDocument/2006/relationships/notesMaster" Target="/ppt/notesMasters/notesMaster1.xml" Id="R7eebf9d42f63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e585ba1e14e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94f3c8a31334a1d" /><Relationship Type="http://schemas.openxmlformats.org/officeDocument/2006/relationships/slideLayout" Target="/ppt/slideLayouts/slideLayout2.xml" Id="R82c63b803885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63b803885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d96a5732942b6" /><Relationship Type="http://schemas.openxmlformats.org/officeDocument/2006/relationships/notesSlide" Target="/ppt/notesSlides/notesSlide1.xml" Id="R7d18cc1675cf42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68ef9b20a46f2" /><Relationship Type="http://schemas.openxmlformats.org/officeDocument/2006/relationships/notesSlide" Target="/ppt/notesSlides/notesSlide2.xml" Id="R3bb9f5208c1b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6e4dc7c30b4e5e" /><Relationship Type="http://schemas.openxmlformats.org/officeDocument/2006/relationships/notesSlide" Target="/ppt/notesSlides/notesSlide3.xml" Id="R31babff4aad448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0939ce63548d4" /><Relationship Type="http://schemas.openxmlformats.org/officeDocument/2006/relationships/notesSlide" Target="/ppt/notesSlides/notesSlide4.xml" Id="Rf3826f2f438249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1103928dd48da" /><Relationship Type="http://schemas.openxmlformats.org/officeDocument/2006/relationships/notesSlide" Target="/ppt/notesSlides/notesSlide5.xml" Id="R3a7227906b29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d43e506d643c1" /><Relationship Type="http://schemas.openxmlformats.org/officeDocument/2006/relationships/notesSlide" Target="/ppt/notesSlides/notesSlide6.xml" Id="Re95e24df414f4c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bbb979d1e4f20" /><Relationship Type="http://schemas.openxmlformats.org/officeDocument/2006/relationships/notesSlide" Target="/ppt/notesSlides/notesSlide7.xml" Id="Rf7b31de6862247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59173c722944b7" /><Relationship Type="http://schemas.openxmlformats.org/officeDocument/2006/relationships/notesSlide" Target="/ppt/notesSlides/notesSlide8.xml" Id="R6ca4ad2402bc4a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2849481d5f4fe9" /><Relationship Type="http://schemas.openxmlformats.org/officeDocument/2006/relationships/notesSlide" Target="/ppt/notesSlides/notesSlide9.xml" Id="Rbab758a681944b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183c3098a481e" /><Relationship Type="http://schemas.openxmlformats.org/officeDocument/2006/relationships/notesSlide" Target="/ppt/notesSlides/notesSlide10.xml" Id="R65beeff3b9b245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5d8d86b334fc1" /><Relationship Type="http://schemas.openxmlformats.org/officeDocument/2006/relationships/notesSlide" Target="/ppt/notesSlides/notesSlide11.xml" Id="Rad95b5123c454f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239912faff4c8c" /><Relationship Type="http://schemas.openxmlformats.org/officeDocument/2006/relationships/notesSlide" Target="/ppt/notesSlides/notesSlide12.xml" Id="Rdcc58c8e32174a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914559daa4139" /><Relationship Type="http://schemas.openxmlformats.org/officeDocument/2006/relationships/notesSlide" Target="/ppt/notesSlides/notesSlide13.xml" Id="Rccabc868dbcf45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45338c36a49a9" /><Relationship Type="http://schemas.openxmlformats.org/officeDocument/2006/relationships/notesSlide" Target="/ppt/notesSlides/notesSlide14.xml" Id="R0f0fdee41c024a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645702ba74dd3" /><Relationship Type="http://schemas.openxmlformats.org/officeDocument/2006/relationships/notesSlide" Target="/ppt/notesSlides/notesSlide15.xml" Id="R8fa9f294315043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bcaa681144aa8" /><Relationship Type="http://schemas.openxmlformats.org/officeDocument/2006/relationships/notesSlide" Target="/ppt/notesSlides/notesSlide16.xml" Id="Rcf8b4f2c36cb49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F45CD-D65F-4AC5-A872-F2859B8A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C66F5-B2F2-4F8F-AA84-B5C14F7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7DFA-470F-4C5D-85D3-8F7C7F7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7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71EEF-B04F-4071-8C5F-8B643AEF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Internal Engineering Share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DD1F9-06A7-400D-ADA3-A8870B8B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5334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Lightweight Manual-First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Workflow Harness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A10AE-C481-482A-9EC9-1D3DE02C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Spring Boot MSA Template에서 검증한 반복 세션용 AI 개발 운영 체계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6B8F7-C44B-4FE5-88EE-1A6137A4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1390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A31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6399C-F4E9-4871-9494-12F62CF4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144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CA8D6-E9B2-41B2-A4A1-84350E6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0"/>
            <a:ext cx="1200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68994-9F6E-4058-99D7-2FA51815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1F0B3-4FC8-4714-BCD9-5E0F245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14300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1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54564-8EF0-4E1B-874B-ACC1B603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314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7D7CD-75F8-457F-AF9D-BFF85940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19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EE51C-5073-419D-9E8C-B5B51091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37160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16993-DEE0-4632-9426-EAA34689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192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870AE-C0B7-4C6C-91B2-1C511C6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37160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7BCCE-8DBA-4B3F-B7D5-953D5C87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91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8CB0F-2874-4CBB-AF05-3B824584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CBECE-67B9-40A8-B29D-520A052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A31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E5DBD-AF2F-4762-8DCD-5EBCB722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B2696-5D90-4ED1-997B-61C5DD8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19350"/>
            <a:ext cx="781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8E04D-AFB6-4E7C-89FC-17997828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90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C1200-E500-44E5-8585-47309C3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955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11364-93C8-4652-ABCA-F835CD21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479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A5F5D-07B8-4607-B3E9-35A556D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955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18D13-7C94-4ABD-9227-91C9744E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6479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FA4AA-D6E8-409A-A8A4-3B6C3B8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Document version v1.0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774DEE-D093-42B0-AB03-CBE5533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작성자 박경서 &lt;Kyungseo.Park@gmail.com&gt;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ACE46-936F-4732-A8DC-DD3831DE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작성일자 2026-05-15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2AF9D1-3544-47E0-B9E3-68441B4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198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github.com/kyungseo/base-msa-template</a:t>
            </a:r>
          </a:p>
        </p:txBody>
      </p:sp>
    </p:spTree>
    <p:extLst>
      <p:ext uri="{BB962C8B-B14F-4D97-AF65-F5344CB8AC3E}">
        <p14:creationId xmlns:p14="http://schemas.microsoft.com/office/powerpoint/2010/main" val="420765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D222F-5FDC-4A85-968D-36B6CA58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B2F3E-5FB7-44ED-A8AA-FCC99FF6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3B40A-8848-4560-BF12-AB8E2C3D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EB182-FE1E-4726-B1EB-0DDC3FF3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이 프로젝트는 두 개의 축을 동시에 검증한다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E281F-69E8-4098-9632-35ADA1F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AI workflow는 실제 개발 대상 위에서만 의미 있게 검증된다.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29A6A-A018-493E-A8AF-2423057A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57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82D21-B9CF-4741-923E-511A7575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7F445-FF8B-45E9-81DB-F4C4D52E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Axis A. AI Workflow 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F22A2-CED7-4540-88AA-C41E68A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210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반복 세션, 승인 게이트, 상태 복구, 도구 간 정합성을 다루는 운영 체계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F41CD-339B-44D5-8E0B-BB4A58F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57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D91FC-0B42-4C02-8BC1-37F92DE7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44CE-4AF8-40FA-9C4A-F66B09B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Axis B. Spring Boot MSA Template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16CF7-8063-4439-971A-791D10C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210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Gateway, auth/user/todo service, Redis, PostgreSQL, CI/Testcontainers를 갖춘 실제 검증 베드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24A16-9D8F-4B98-81C6-D0369D8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38450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CF929-FBFC-4F7E-9203-BA64362E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루프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58BD8-A7BE-47CF-A25A-011D6714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289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42963-2173-4DDC-BEDE-0B32503B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81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B6F94-312B-4F99-8BC4-925FF407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289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2C29B-2C2A-4085-B3E0-D0A97FF7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81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18E34-B6BB-4706-BC0B-364C9FCF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14850"/>
            <a:ext cx="739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Workflow가 실제 repo에서 흔들리는 지점을 발견하고,</a:t>
            </a:r>
          </a:p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MSA template은 AI 작업이 안전하게 반복되는지 검증한다.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2A336-6FDB-4893-84A6-41816A42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3772B-E969-4B92-BAA2-75E95603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AF17A-0072-4008-B02A-B707C02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8625235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0D87E-950D-4133-AE98-62199612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A0B14-912D-4990-BDE4-F5EF4E7F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Project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15F0-FA9C-48F0-B60E-6EB0167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A8222-5981-4A29-9147-A320070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base-msa-template은 검증 가능한 MSA scaffold다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AE6A3-BC8B-46BE-9C6E-BCA809AD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Private repo로 실사용 검증 후 완성도를 올려 Public 전환 예정.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9CDC1-E006-462E-9EF6-A893EDF8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A19A8-51C9-404A-8D37-6B307B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83E33-F5DF-4FB5-B4B9-E00778BE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gateway/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21FDB-1A50-4E44-B468-FF66232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api-gateway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581C9-983B-45D7-8307-9B53CFF5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5BF3E-CDC5-4160-97AB-9FA7FD7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BADC9-1666-4FEE-8032-0E13F411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services/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01CB8-343A-41F7-9861-BEA4067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auth · user · todo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6A257-C2DF-4C0F-86F9-9A3200F4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E9AB0-0B01-4384-B20F-8C9FADB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4A90C-DB45-4661-8295-8189C6F1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common/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88E27-7BC4-4029-B60D-07981A7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common-core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8BAB5-497E-4D11-BD67-4FCE3CA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57311-D2C9-4EF8-8AD4-0634F869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56F74-32F4-4634-99D1-959025A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infra/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8BB4E-BC98-43CA-84D1-28E9DABD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docker · k8s · 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D6261-B1B3-43B0-9970-43BE0E2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5DBD5-9456-4E9A-99EE-5A518FB4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9482A-AED7-4F61-8421-E7C2139C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docs/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E389F-5254-43AB-8FCD-2F95DD28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architecture · guide · harness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D1CCC8-6F61-4EF4-8DF8-5B360263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DFC8D-580D-47BF-9D12-B643B2E6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71601-055B-437E-B7F1-118CF45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.claude · .cursor · prompts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2E697-0569-489F-ACFF-843CC0B0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tool-specific AI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5377C2-7C29-42AC-80E0-89DEBB7A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9474B-6E21-457E-8B6D-6F5EE82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86375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Private now · Public after maturity and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667DD4-830E-41A6-BEA0-4B616250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E4C60E-0E50-4835-BBA8-B6D076C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6A122C-914A-45EF-988E-37E4FC9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9662238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CCC092-29C6-4E21-909D-04644E40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C1FC6-1887-41CA-BA66-4BD74985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Technical Bed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35079-18F9-4E23-A5E7-0B61B067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A4224-BEAA-4DCE-8126-E6A9BFA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검증 베드는 Spring Boot 3.5 기반 MSA 구조다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CB20D-4931-4B4F-8240-16078A19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Gateway, 서비스, 공통 모듈, PostgreSQL, Redis, CI/Testcontainers가 실제 작업 표면을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7B284-B6C2-4BA7-9CE4-AAA5AF6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2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C2B6C-B2FB-4F19-8810-CF1E5548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Vanilla 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E8679-850F-4640-A942-BCCBC47F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45A56-B927-4A6E-821E-10A76A72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670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API Gateway</a:t>
            </a:r>
          </a:p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Spring 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CB3FB-F07F-4D71-A085-13E5DC8E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1638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EBFCF-15A7-4E33-9F46-6569FD6A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431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auth-service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JWT rotation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2A2F1-2FED-4166-9F84-B649119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57550"/>
            <a:ext cx="1638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BEA01-1AE5-4530-BC1A-07BA0730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766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user-service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CRUD / 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9E1AD-EE2C-48C7-8E32-185DFEE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91000"/>
            <a:ext cx="1638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63B3D-6283-48DB-91D0-DF7CE68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100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todo-service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sample CRUD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D0D5F-40D5-42BD-A194-E927399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F9769-C937-48DC-B31D-A860E779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PostgreSQL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4E2BE-F329-4137-880D-88A18545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39FFE-3EBF-4807-8FA7-41906FED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433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RT · blacklist ·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3D2C5-3617-49B4-B10D-48A139E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B3E77-76B6-4B9F-B23B-BB867544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242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7C8C6-0632-4C8C-A972-CF2090F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918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57B05-ABE6-4B46-92F5-73621747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C3D38-7795-4136-9226-8F66E0E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882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Verification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166EA-F9B0-4DBA-930E-E3CCA82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882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Testcontainers, Checkstyle, GitHub Actions CI, Docker Compose local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B94BE-3872-4894-B63C-309FA53D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2DECE-1566-483E-9AB0-B88C5134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48C7D-D2D0-4554-A44C-8622829A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3223343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C1812-2B44-48CD-9CF5-75D54686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A838E-135A-463D-A783-0FC36A6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D685-6948-43A1-B4E2-E1941587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95DAF-FBE4-42F5-BFCC-6B57471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AI coding은 코드보다 세션 운영에서 먼저 흔들린다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054D8-376B-4825-A169-F07D42D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반복 세션에서 상태, 승인, 결정, 검증이 흩어지면 좋은 코드도 이어서 만들기 어렵다.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3DC86-7934-492E-B131-BA134D31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73E3E-1960-4C4E-8C48-E4EF194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17430-3D57-4AB9-AE61-1750D0A6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527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Context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F2045-9F60-4C23-B9D3-34561592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세션마다 같은 설명 반복, 오래된 문맥 재사용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9F122-9C70-4760-8071-070C284A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06A45-9D7C-43B1-8A7E-0522E465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FA3D4-D679-4506-9C5C-F458A1B3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Scope creep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497B4-D34D-487C-8F65-0F76430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95650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승인 없이 넓은 변경 또는 refactor가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56C7C-A1D3-46EC-A160-8891562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28AFF-FB9A-419D-BD33-4EBE5493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139B2-A4E9-4166-A3BD-ED4EAA8B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State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20772-53A9-412C-97D2-17DC793C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38600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중단 후 재개 시 실제 파일과 STATUS가 어긋남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B6361-B08A-4B94-8BEE-C9AC6503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53E2E-2F98-4D29-99C1-FE2A737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85630-06B4-4FE1-A693-84DC928D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Decision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24C0D-D683-44FF-9B88-E739E69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81550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왜 그렇게 했는지가 PR·commit 밖으로 사라짐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83141-3B20-4A11-966A-6BAB21C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v1의 관심사는 “AI가 똑똑한가”보다</a:t>
            </a:r>
          </a:p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“AI와 사람이 같은 상태에서 다시 시작할 수 있는가”에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DEEC5-D6D6-424E-95E8-CBF05BD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06F33-9A73-46DE-B5EA-E5F756D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A801AF-4953-40D6-9872-93DD6F05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3476871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F4EB5-474B-4B01-8E33-8417D910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7046-8073-4818-9CF0-9C7C14F3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1810E-21FB-4C4C-AA81-936021E2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A4142-65AB-4480-B3F5-11A37704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v1은 문서 정리가 아니라 운영 모델 재편의 결과다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1C2A9-B30C-44CC-8B5C-88AEA9C4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Phase 1 구현 후 혼재된 상태를 백업하고, 현재 중심 live board와 하네스 프로토콜로 재구성했다.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9A647-992C-426A-B540-E438D478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AE9B1-210A-48DC-8E7F-EABB8FF1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517A0-FEB4-413C-B0D0-8766B799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MSA scaffold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E1238-2003-4084-9F89-02C9E01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623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FB395-B755-4E70-B2FF-C4EFFECD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1470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258FD-C2D4-428A-86A0-ABE7F6E0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E0DF4-92D9-4644-B7A0-77F4B76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190CC-56E3-4B2B-A86E-C08C7A03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상태·backlog·DR 혼재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FC8B0-F1AC-44FE-A744-F89B5B6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623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C301C-1D84-4743-9611-21BFA0C8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1470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4EA4-BBE9-4BB7-850D-959A408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56286-FD4B-4730-ACA8-30489BBE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F408A-1654-44C7-B27F-2B9298C6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433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백업 후 현재 상태 재정의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E5C9D-06DC-4733-A0FB-CAB2732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623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11ED7-1D6B-46AB-9920-61A2082B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31470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8C8D1-F96D-483D-AD37-DB60CFE6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99D7C-41AC-455B-8178-27B9C4D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Harness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A1B02-F4C7-4908-B19D-DEF95E9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state machine +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309CE-70E0-498D-9539-349FB43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86787-91D0-4FAC-A815-24445FDD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1470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955A6-2082-4BFE-B497-0496EF49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FA7B9-A827-4DA8-B071-391285CE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Hardening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9464A-BBFD-4EC0-A9D0-0FD161D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AGENTS, hooks, /doc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FDD85-E07E-421C-8AB8-ACA4C38D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38700"/>
            <a:ext cx="8229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E86CD-EDF8-4609-8C64-6157981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387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3D842-EE56-49AF-8258-57974828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10150"/>
            <a:ext cx="786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Key move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6EFA37-A1E3-4D73-B83A-8097A85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34000"/>
            <a:ext cx="786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완료 이력은 archive로 보내고, STATUS.md는 현재 상태 live board로 축소했다.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E7DEA-B21D-4D27-9605-1FE52251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CF0B16-BB26-4B26-89E9-61538C8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D37421-5C1A-4084-B9E8-1093ED04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21449496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6107B-920A-4812-82F8-C961A8A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B6C36-AB1A-4963-991E-0D6C46C9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B1956-5AB9-4F6A-BAAF-01C0CE6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0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48EAD-2D19-4D74-9F69-3BC655D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Harness v1은 자동화 엔진이 아니라 실행 프로토콜이다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7605F-6DD7-42D8-B808-84D35295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Agent가 같은 절차로 시작하고, 계획하고, 승인받고, 검증하고, 재개하도록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ECAD3-7A17-4F32-A6A8-7B0B0DED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363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17C5F-3D69-4FB3-9AB9-AB99F8A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948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Agent가 따라야 할 상태, 문서 라우팅, 승인 게이트, 검증 조건,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 복구 규칙을 repo 안에 명시한 운영 프로토콜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D4A84-1AA2-46C8-A1D4-B9A76E95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A0639-AA2E-450B-B83C-22C7301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A6146-D820-4039-86FF-A8ACDC84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E4B92-2C93-4DE6-8D20-E4991097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Stateful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85ADE-23DD-471C-8F37-CC6E7D7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07088-A993-4568-8A3F-0B4E8C53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Controlled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42A62-DEF1-421F-923C-8BE5373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15FCD-D95A-41FD-9D19-2356A37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Failure-first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C5459-9FE3-48DB-8497-E0CD4C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8A1FA-DF5A-477F-8EA8-E8A48EB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Reversible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49F81-5F37-42F2-9DEF-2952508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91200"/>
            <a:ext cx="834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Not a workflow engine. Not agent memory. A small contract that survives session boundaries.</a:t>
            </a:r>
          </a:p>
        </p:txBody>
      </p:sp>
    </p:spTree>
    <p:extLst>
      <p:ext uri="{BB962C8B-B14F-4D97-AF65-F5344CB8AC3E}">
        <p14:creationId xmlns:p14="http://schemas.microsoft.com/office/powerpoint/2010/main" val="10210744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61577-8A3E-4DE3-8976-BC7531C8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12E4A-ADED-4685-B464-E410AC4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510DB-3973-4E50-AB0B-F1A3BB53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314E5-0E6F-45C0-9B5A-21E510D8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핵심은 작고 명확한 상태 머신이다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2CD46-BB01-4085-8CCB-E295C4E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정상 흐름과 실패 복구 흐름을 같은 그림 안에서 다룬다.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A65D9-6C6E-4530-9CB9-0A9D7CA0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91589-4574-460D-BE8B-53490BC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FFF0B-71B5-4532-B682-35E5C5DF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725E1-BC00-4BA0-83B7-0853E559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252AB-9243-4465-A5BA-1CDC3B0B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EF30E-E162-4E93-B9A4-9B03DD04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5698E-0F0A-4BC6-A63D-F0F1017D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5561E-1109-4A34-80E4-71F6F56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44198-96D2-42A1-8594-F1B3B9F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FF149-651B-4CFC-8DB8-69F5084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31298-5822-49AA-ABBF-33CE990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3AC69-8B0A-4185-9CCD-10B58F5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6E767-C11F-49D4-9337-D441C92C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BBE8C-D253-4E8F-A242-258DDCC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910F1-DC73-4F13-9076-66B9ACBA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39CA7-BA6D-49C1-B7EB-465DFE0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4BF5E-C7AF-4EF8-8C25-1C19739B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82495-E3AB-4197-8A96-B553BB1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3EE9A-768F-4CA8-9267-68771E7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D9EB7-5E77-423D-8071-6EA8E42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BD4F2-A334-4293-B993-DF8B5F36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6B956-6F4D-4C2D-89F0-44DBB2BF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3643F-1F80-4EF4-B811-B4A00810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36B59-21A5-4616-9DB6-114FFD3B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D6C0D-6484-4189-BD13-7B24FFA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A200C-9F6B-4767-89E1-7F2CFFA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05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7FA290-98C3-47EB-9D41-4FA66E5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720703-2BE2-42F1-B002-6C1EF00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79CD7-1FE3-4480-8194-3B920C4B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ED2457-AD5E-4E91-A1E4-5FDDB38E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RECOVER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9533A7-B325-47C7-AAD1-8474022E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957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02066-65A1-4507-B438-F1E79F76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005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6BE13A-F190-45E3-BC81-4A6295B6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672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2929D8-3B22-4C37-8755-4B8072CD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196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686D3-9F3D-4B03-9957-813C3344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실패는 예외가 아니라 공식 경로다. 검증 실패, STATUS drift, scope drift는 RECOVER를 거쳐 PLAN으로 돌아간다.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CAEC5C-0D2C-4571-84A0-EBF828F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C691FF-17E8-48BF-BD35-68668B5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6D5DA2-DE73-4811-B5A5-A3F2000C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475477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2B503-20B3-41E5-A508-761C4075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09121-1249-45CA-9DA8-3B92BD49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Document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81078-B621-4490-A1F3-030E549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5A9A8-AB15-4305-860A-6285EF5D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문서는 많아졌지만 역할은 더 좁아졌다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00A67-B29B-49E8-BE4C-55D21F3C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STATUS, backlog, DR, archive, protocol이 서로의 역할을 대신하지 않도록 분리한다.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20929-8600-4511-8E4D-2C150849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70F51-2942-4D17-956D-17B1B4CB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STATUS.md</a:t>
            </a:r>
          </a:p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current live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98D5D-48DB-4396-AD0C-054E5EDA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0B2E4-1A84-4E67-8702-C4AB4E73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050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PHASE{n}.md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EA463-1D43-479E-B3FF-6067C65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product backlog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8E036-5CA2-4804-87BA-93C3B650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34751-6ED6-452F-8248-7A2F0D14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290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75C70-284E-4D25-B447-AF8F07D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workflow backlog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AF82D-E990-4729-9BF1-94CA08E1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1181D-AC6D-4A5F-865E-38D4EE78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050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DR-*.md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CDB52-BB46-4D8D-8A8D-BE18CA4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decision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802EF-EF22-4D5C-8B0D-C149DA2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E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3CA06-A4BA-45B8-8617-81BC06F1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290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archive/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52B5D-4156-427B-B3A9-0B59F273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completed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A857F-E882-42CA-83E0-F5EFCD3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BE549-282E-4065-93A1-19F8A440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529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HARNESS-PROTOCOL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28663-0912-4E37-BADF-4042AED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agent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86B17-1F85-43F3-914F-E8F2D06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95950"/>
            <a:ext cx="845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원칙: 현재 상태, 후보 작업, 결정 근거, 과거 이력을 한 파일에 섞지 않는다.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7BB46-CEE4-4D23-9410-D951FD70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C7011-0232-49E8-8D44-27D83E0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46BE7-9FD3-4E34-9D22-60D7B89C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4727929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918A9-5221-4706-B28F-9F2B15D2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DCE31-0154-44E0-A0C1-248F8F83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Tool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D4D8E-4A9E-4A63-8303-E6413FDE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43879-89B0-4ED4-BF91-9BAE71AF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Claude, Codex, Cursor가 같은 운영 계약을 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276CC-FD13-408D-A054-443AED07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도구별 진입점은 다르지만 state machine, approval gate, validation default는 공유한다.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6EC3E-FE9B-4716-A65D-FE4558D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819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215F7-F3A6-4D44-BEA1-445CE24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A9353-C993-4533-A895-442B03BD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2E332-0F3B-4787-B8BF-9689BB46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2457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CLAUDE.md</a:t>
            </a:r>
          </a:p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.claude/commands</a:t>
            </a:r>
          </a:p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.claude/rules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1B614-676E-4CF4-94FD-0D5DC724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819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E56FE-335D-415D-AF90-2D69FAE7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C7C3D-0E5F-4443-98F6-3B8B275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2C818-FBE6-40AD-9BFB-DEE5B03A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86100"/>
            <a:ext cx="2457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common workflow</a:t>
            </a:r>
          </a:p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manual command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CC7FB-FDD9-4B97-A24A-76904791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2819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177C7-178B-496A-96D5-7DD89C7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AC3EA-8D1C-448A-BFFD-1C9622A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Cursor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B3071-435A-41BD-937F-8B6A860B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457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.cursor/rules</a:t>
            </a:r>
          </a:p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session prompt</a:t>
            </a:r>
          </a:p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commit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76358-539A-450F-9E52-0CE292F7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62500"/>
            <a:ext cx="4724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1822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0CD26-2EED-4818-9451-BE50F0AF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01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docs/AGENT-WORKFLOW.md</a:t>
            </a:r>
          </a:p>
          <a:p xmlns:a="http://schemas.openxmlformats.org/drawingml/2006/main">
            <a:pPr algn="ctr">
              <a:def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shared operating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8F781-27EE-4AA0-B3AF-318D0DFD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195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B75CF-BFCE-4F95-BC9D-88949BF2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529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6DC9E-BCCB-4F30-B926-A2454752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C3C24-B0E2-4784-9595-27C6B785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CB21A-8EEE-45FD-BAFA-7904C47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417397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C92A1D-9CBB-4F9D-826A-C4173E78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CB723-AAD1-462A-B606-C3EDE56F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Daily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D623-6B5B-4A0F-AE6E-B66BF929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F06F6-E5EC-454A-8B42-A9819462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개발자는 명령을 외우는 대신 절차를 따라간다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706A3-F649-41C6-9135-69913C3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작업 선택, 계획, 구현, 검증, 종료가 하나의 반복 루프로 고정된다.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103EF-B32D-4B68-B486-8BE6DAEC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F03FD-F376-473E-A625-FADF77F7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55444-1764-4D12-B697-F977633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098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1.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E3F43-28A7-438B-B7B9-BF9D345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98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STATUS current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17058-EDD2-44A6-97A2-8CA42EB9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1F8F5-24AA-4CEF-8137-EB54C48B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A3CCE-8926-474C-9546-CF84DDD7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622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2. Pick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16244-A8A7-437F-BC0A-4C23E705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622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PHASE{n} or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EC333-690C-404F-BAB6-D54A572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290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71CC1-2784-4811-B149-E84531DF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0CA27-A530-4F63-8E97-71D9F74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147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3.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F535A-405E-4B24-A02E-6CFBF39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scope, files, verification,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AE65B-D70E-407E-A084-756C77B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814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51A9E-7200-4392-A68D-D5B61DD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814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64798-54EE-4360-905E-149A315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671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4. 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F3BAD-E2F4-4E94-92B4-9B5BBEA4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671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approved narrow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724F8-6CE3-4A57-BFF7-AA6E096C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E13AE-DB31-4FB0-A442-A283D0CB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339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C0C48-7700-4459-8B7B-EE78648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196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5. Validate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2C780-02BE-4709-AD19-BC6631E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196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tests or doc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3B573-8BDA-4C12-873C-A45D0EB5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6FBB8-A3AC-4AAA-869C-113DCA43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863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AB584-82B0-4AF5-8515-9537F7B5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720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6. Done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E17C0-F9C2-4DC7-982F-A3190D2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720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risk, STATUS need, commit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7987B7-95B4-4A0A-8120-9DE4D768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2930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기본값은 ‘읽고 → 계획하고 → 승인받고 → 좁게 바꾸고 → 검증한다’이다.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E34F9-A127-4666-B67C-E23D3D70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2BADC-FF55-4251-83A3-ECB1CB5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FC8ABE-E196-41ED-92F9-66A590B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40157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2F19C-AE5C-4181-A548-48AA77A1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26AC6-BBC8-4530-8BA1-3170A7EA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42825-568F-4214-9B8A-24849BCF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E920F-5B9D-4F43-89A1-07F6C3E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Manual-first는 약한 자동화가 아니라 의도적인 v1 선택이다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D6445-84F7-4CD6-9F8E-8F3CD078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규칙을 먼저 안정화하고, 실제 반복에서 효과가 확인된 지점만 자동화한다.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E260F-8E2B-4948-91C5-F8A9D5C0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781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61EB3-C76B-4F63-8133-86655C99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FFDC0-A108-4D87-9A14-7A55C31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Agent memory-first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10726-8077-44A8-88D3-56CD2554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13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빠르지만 세션·도구 변경에 취약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6F44E-C0FB-4852-AD92-3520D8FE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781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BFC99-9EBE-4C6B-84C9-F5FEB06E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0FBA0-2502-45A4-8ACA-9320B66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Automation-first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BA267-E4E9-489B-ACF9-0B749184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62350"/>
            <a:ext cx="213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강하지만 초기 설계 오류도 강제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DB0AB-31FE-435D-8A07-3F22A45A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2781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D1FC2-5731-4564-A244-3E0AC248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F9C84-D28F-44BC-88B8-E072B931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Manual-first 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ED929-39D5-468D-B981-7343C35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13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규칙을 문서화하고 실제 반복으로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649FF-7D9C-4B22-8549-4ED92584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v1의 판단: 사람과 Agent가 절차를 이해한 다음, 반복 리스크가 확인된 곳부터 hook으로 승격한다.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E77E8-67FF-4DBC-940B-A866384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89111-AEC5-45C2-AA59-7EFBD30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9D00F-A698-4507-BCCF-EB7FAC4A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0186030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545FF-EA07-4146-B2F8-901D4DA5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96F9E-C6F6-4BA1-A87F-B724799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Scaffolding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D534A-6750-4610-A0F9-26AC1F14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83AF2-A260-49B1-8C6D-2BCD8BD2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하네스는 이 repo 밖으로 옮겨갈 수 있게 설계됐다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9FEF6-4963-470D-A743-B03FAAA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generic / spring-boot profile, existing overlay, no-overwrite 원칙으로 새 프로젝트 적용을 고려했다.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765B8-1FDE-4C89-929A-DC9B334E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2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DC6B0-CC23-47A2-A991-3DD100FE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2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create-harness.sh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A794-EEC2-4ABF-AF6C-3C8246B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BFECE-9BEC-4AC7-828E-25FD3B10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generic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85DB8-0AD0-4CDE-BD1D-AF76E6A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5EAF5-BD60-44B0-A19E-2C3D275E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spring-boot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F94E6-54C9-42EF-BAE6-E4EA0538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9535C-DD94-48ED-AEFF-05A4D316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14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new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99478-8359-4611-95CC-675944C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A19DE-DD21-4FCD-9F8C-D89B7C0A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528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existing overlay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A1065-A966-4FF4-A4A6-1C5FB28B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51A5F-59B6-4B6E-86AC-7C626739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62325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no overwrite</a:t>
            </a:r>
          </a:p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reusable harness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D7C69-3F8A-4B12-BF12-670190AD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49FA1-503A-407D-96CC-3D6C2AC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717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1A5CC-5E0E-42F1-94E0-9B2B6B73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6DDBA-FD0E-4351-8E54-326C2B37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10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863E7-39FD-4F25-90BC-4A24CF1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57800"/>
            <a:ext cx="887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Scaffolding 관점의 핵심은 repo 특화 규칙과 범용 운영 규칙을 분리하는 것이다.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93A81-F9F7-4EB6-8B76-2F2F8AB5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F7C97-9ED3-4E88-BC64-A7FFC1C6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26F91-239D-4B5E-8629-7ED6C687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6210665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3CE61-4E20-4CCA-AF89-5F0BD4D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FF0B7-B779-414C-81D9-64D5B1B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B947D-8055-4157-A0C9-9443C9D1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4F207-7779-4426-835E-A26DF92B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현재 완성도는 ‘실사용 가능한 v1, 선택적 강화 전 단계’다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533EF-02C2-4B3F-8320-BA509CE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문서·명령·규칙·프롬프트 정렬은 완료됐고, 일부 강제 수단은 다음 단계로 남겨두었다.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DB4E0-E1E8-4464-A645-83ED674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State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05AE0-30B4-447A-977B-13AFB810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28115-6186-47C6-A862-90F94958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45567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E343C-F034-48C5-A262-F3255208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574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92%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B8B25-FD2C-4930-83B9-2699E96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52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Docs / command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0728A-3E49-45EA-84F8-E9556B45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92820-6363-427A-8733-9C217407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42595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78E98-60FB-4DE1-AE79-60A341A1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432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86%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4C5D-D495-4487-AE00-565F0FB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38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Scaffolding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E4039-8A39-46E6-BBFC-D593272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FCDF2-AC13-4CFA-A82D-D41C9E6A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3764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B01C2-728F-427A-8344-052912B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76%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BD863-51B3-461B-B2F5-1572FE0F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24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Hard enforcement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C2BB4-5232-421B-AD2F-B51A121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85680-52EA-42AA-ACA6-9E1C9C88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23774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1D823-6621-4FED-9B0E-D2AC3BF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148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48%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24B35-C8B7-4DF3-A978-711F27D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4B5E8-BBFF-4CFF-B357-1E72130D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79894-4546-4CFF-AFE5-BD9CADC5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86400"/>
            <a:ext cx="782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Current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1C599-540F-45E3-9CB1-0AE906E1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2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실제 repo에서 문서·명령·규칙·프롬프트 정렬은 완료. 다만 강제 수단은 selective automation 단계로 남아 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90C2D-1A9B-4248-8FA6-79D312E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E445B-BD07-4589-9C7E-B6E1418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3E9786-3AB5-4EFC-9F49-7A17E99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5740330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820D10-111A-4DDC-9B0A-4FA297AC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7D4BE-5221-4871-898D-EEB8B96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v2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CF618-CCE0-4D52-8444-7018D67D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C7F78-FFD4-4479-BE01-73E01B1A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v2는 더 많은 문서가 아니라 더 좋은 경계와 자동화다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8A874-CED6-427D-99A3-CE42485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65669"/>
                </a:solidFill>
                <a:latin typeface="Apple SD Gothic Neo"/>
                <a:ea typeface="Apple SD Gothic Neo"/>
                <a:cs typeface="Apple SD Gothic Neo"/>
              </a:rPr>
              <a:t>Stop hook 이후 semantic health check, handover automation, SSOT config를 점진적으로 검토한다.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02DE5-25AA-45DA-A362-6F861AE5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7E055-ACEC-4679-B69D-68660D40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81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5A957-6272-46CC-A2A1-511377B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Manual-first v1</a:t>
            </a:r>
          </a:p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STATUS gate, /doc,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9F8D1-7528-4416-9F31-AAEAAC41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861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F2E3E-0EE6-4651-8EDC-1FF5DBE2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38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C93B6-9F88-48EF-86DB-4FAFC12D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37BA6-F9F8-4314-96A0-2A4480A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81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F2CEC-F402-4959-BDE1-00ED68DB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Selective enforcement</a:t>
            </a:r>
          </a:p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Stop hook, validation reminder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0B81-9822-42D3-9945-6835849D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118A4-9F93-4AA3-B005-BC39ACC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38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6B4F8-B4A1-4A90-B774-0110711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5BD1B-2C99-4DAD-8EF0-7285A0EF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81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B3172-253C-48AE-A15D-17A8AD39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Health intelligence</a:t>
            </a:r>
          </a:p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semantic drift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A1C9E-632E-421B-B09A-4B011965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BBDA7-D212-45DB-85CB-1B8DC2F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38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F7E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C2D47-AB15-4CA4-BEBC-29A06372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CE963-BD69-4A64-929A-A3310C97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81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FC31E-B4F2-4DF3-90C0-FFB9F88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.harness/config.json</a:t>
            </a:r>
          </a:p>
          <a:p xmlns:a="http://schemas.openxmlformats.org/drawingml/2006/main">
            <a:pPr algn="ctr">
              <a:def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SSOT when patterns stabilize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7B959-9853-4059-9FE5-16C7A33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918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22F"/>
                </a:solidFill>
                <a:latin typeface="Apple SD Gothic Neo"/>
                <a:ea typeface="Apple SD Gothic Neo"/>
                <a:cs typeface="Apple SD Gothic Neo"/>
              </a:rPr>
              <a:t>방향은 ‘더 복잡한 하네스’가 아니라 ‘반복해서 틀리는 지점을 더 잘 막는 하네스’다.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6B18E8-ECC4-4693-8E7F-4DBF976B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E3C1F-781A-4B8B-A57F-E137291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F03F7-9312-49CE-A9B0-3E97D2F9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F7E8F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20827837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1D62B-2ADC-4360-BEB9-997B0752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7D851-2067-46FE-B798-50DC408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5D56A-B113-4861-B534-AB60CB9F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작게 시작하되 반복 세션에서 무너지지 않게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5DAD5-9376-4F4F-974F-0E22868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AI Workflow Harness v1은 개발팀이 AI와 함께 일하는 방식을 repo 안에 남기는 첫 운영 단위다.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818-347A-4A42-B042-4E61D01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609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3"/>
          </a:solidFill>
          <a:ln xmlns:a="http://schemas.openxmlformats.org/drawingml/2006/main" w="9525">
            <a:solidFill>
              <a:srgbClr val="8D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F288-6B1A-4379-85EE-7047ABC8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F9046-3C4F-4629-9D6E-CEFC66D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3B52A-508C-41F1-B7A9-88A5DC57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541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AI 개발 workflow는 prompt 모음이 아니라 repo 안에 남는 운영 계약이어야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4A0E1-73CB-43B9-9DA2-6776DEA2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  <a:p xmlns:a="http://schemas.openxmlformats.org/drawingml/2006/main">
            <a:pPr algn="r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2026-05-15 · Document v1.0</a:t>
            </a:r>
          </a:p>
        </p:txBody>
      </p:sp>
    </p:spTree>
    <p:extLst>
      <p:ext uri="{BB962C8B-B14F-4D97-AF65-F5344CB8AC3E}">
        <p14:creationId xmlns:p14="http://schemas.microsoft.com/office/powerpoint/2010/main" val="1823960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2026-05-15T14:18:41.0550000Z</dcterms:created>
  <dcterms:modified xsi:type="dcterms:W3CDTF">2026-05-15T14:18:41.0550000Z</dcterms:modified>
</coreProperties>
</file>